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4" r:id="rId19"/>
    <p:sldId id="273" r:id="rId20"/>
  </p:sldIdLst>
  <p:sldSz cx="9144000" cy="6858000" type="screen4x3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hxGCFlAFcwn5H6UeEvS4PAFt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8" autoAdjust="0"/>
    <p:restoredTop sz="94660"/>
  </p:normalViewPr>
  <p:slideViewPr>
    <p:cSldViewPr snapToGrid="0">
      <p:cViewPr varScale="1">
        <p:scale>
          <a:sx n="96" d="100"/>
          <a:sy n="96" d="100"/>
        </p:scale>
        <p:origin x="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None/>
              <a:defRPr sz="2400">
                <a:solidFill>
                  <a:srgbClr val="741B47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2100">
                <a:solidFill>
                  <a:schemeClr val="dk2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  <a:defRPr sz="30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2000"/>
              <a:buFont typeface="Times New Roman"/>
              <a:buNone/>
              <a:defRPr sz="2400" b="1" i="0" u="none" strike="noStrike" cap="none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None/>
              <a:defRPr sz="220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" name="Google Shape;9;p18" title="RIT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373150" cy="7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8"/>
          <p:cNvSpPr txBox="1"/>
          <p:nvPr/>
        </p:nvSpPr>
        <p:spPr>
          <a:xfrm>
            <a:off x="90525" y="6322325"/>
            <a:ext cx="36063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741B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MCA, RIT</a:t>
            </a:r>
            <a:endParaRPr sz="1700">
              <a:solidFill>
                <a:srgbClr val="741B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strike="noStrike" dirty="0">
                <a:solidFill>
                  <a:schemeClr val="dk1"/>
                </a:solidFill>
              </a:rPr>
              <a:t>Tomato Leaf Disease Detection</a:t>
            </a:r>
            <a:endParaRPr b="0" strike="noStrike" dirty="0">
              <a:solidFill>
                <a:schemeClr val="dk1"/>
              </a:solidFill>
            </a:endParaRPr>
          </a:p>
        </p:txBody>
      </p:sp>
      <p:sp>
        <p:nvSpPr>
          <p:cNvPr id="19" name="Google Shape;19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2922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Using Deep Learning and Transfer Learning for Agricultural Diagnosis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Krishna Harish — 1MS24MC045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Guide: Prof. Komala R</a:t>
            </a:r>
            <a:endParaRPr b="0" i="0" u="none" strike="noStrike" cap="none" dirty="0">
              <a:solidFill>
                <a:schemeClr val="dk1"/>
              </a:solidFill>
            </a:endParaRP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Department of MCA, Ramaiah Institute of Technology</a:t>
            </a:r>
          </a:p>
          <a:p>
            <a:pPr marL="343080" marR="0" lvl="0" indent="-2922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Academic Year: 2025–2026</a:t>
            </a:r>
            <a:endParaRPr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Problem</a:t>
            </a:r>
            <a:r>
              <a:rPr lang="en-US" sz="4400" b="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>
                <a:solidFill>
                  <a:schemeClr val="dk1"/>
                </a:solidFill>
              </a:rPr>
              <a:t>Statement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is one of the most widely cultivated vegetable crops, but it is highly affected by several leaf diseases.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Diseases such as bacterial spot, early blight, late blight, leaf mold, and viral infections can reduce crop quality and yield.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Manual identification of tomato leaf diseases requires expert knowledge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may be time-consuming for farmers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Delayed </a:t>
            </a:r>
            <a:r>
              <a:rPr lang="en-US" b="0" dirty="0">
                <a:solidFill>
                  <a:schemeClr val="dk1"/>
                </a:solidFill>
              </a:rPr>
              <a:t>diagnosis </a:t>
            </a:r>
            <a:r>
              <a:rPr lang="en-US" b="0">
                <a:solidFill>
                  <a:schemeClr val="dk1"/>
                </a:solidFill>
              </a:rPr>
              <a:t>can lead </a:t>
            </a:r>
            <a:r>
              <a:rPr lang="en-US" b="0" dirty="0">
                <a:solidFill>
                  <a:schemeClr val="dk1"/>
                </a:solidFill>
              </a:rPr>
              <a:t>to </a:t>
            </a:r>
            <a:r>
              <a:rPr lang="en-US" b="0">
                <a:solidFill>
                  <a:schemeClr val="dk1"/>
                </a:solidFill>
              </a:rPr>
              <a:t>disease spread, increased pesticide usage, higher production cost,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crop loss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An automated image-based deep learning system </a:t>
            </a:r>
            <a:r>
              <a:rPr lang="en-US" b="0" dirty="0">
                <a:solidFill>
                  <a:schemeClr val="dk1"/>
                </a:solidFill>
              </a:rPr>
              <a:t>can </a:t>
            </a:r>
            <a:r>
              <a:rPr lang="en-US" b="0">
                <a:solidFill>
                  <a:schemeClr val="dk1"/>
                </a:solidFill>
              </a:rPr>
              <a:t>help detect tomato leaf diseases quickly and accurately from leaf images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Objectives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Build an image classification model </a:t>
            </a:r>
            <a:r>
              <a:rPr lang="en-US" b="0">
                <a:solidFill>
                  <a:schemeClr val="dk1"/>
                </a:solidFill>
              </a:rPr>
              <a:t>to detect tomato leaf diseases using deep learning.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Classify tomato leaf images into 10 categories, including 9 </a:t>
            </a:r>
            <a:r>
              <a:rPr lang="en-US" b="0" dirty="0">
                <a:solidFill>
                  <a:schemeClr val="dk1"/>
                </a:solidFill>
              </a:rPr>
              <a:t>disease </a:t>
            </a:r>
            <a:r>
              <a:rPr lang="en-US" b="0">
                <a:solidFill>
                  <a:schemeClr val="dk1"/>
                </a:solidFill>
              </a:rPr>
              <a:t>classes and 1 healthy class.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Use the PlantVillage dataset for training and evaluation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Apply </a:t>
            </a:r>
            <a:r>
              <a:rPr lang="en-US" b="0" dirty="0">
                <a:solidFill>
                  <a:schemeClr val="dk1"/>
                </a:solidFill>
              </a:rPr>
              <a:t>transfer learning </a:t>
            </a:r>
            <a:r>
              <a:rPr lang="en-US" b="0">
                <a:solidFill>
                  <a:schemeClr val="dk1"/>
                </a:solidFill>
              </a:rPr>
              <a:t>using pre-trained models such as </a:t>
            </a:r>
            <a:r>
              <a:rPr lang="en-US" b="0" dirty="0">
                <a:solidFill>
                  <a:schemeClr val="dk1"/>
                </a:solidFill>
              </a:rPr>
              <a:t>ResNet18</a:t>
            </a:r>
            <a:r>
              <a:rPr lang="en-US" b="0">
                <a:solidFill>
                  <a:schemeClr val="dk1"/>
                </a:solidFill>
              </a:rPr>
              <a:t> and </a:t>
            </a:r>
            <a:r>
              <a:rPr lang="en-US" b="0" dirty="0">
                <a:solidFill>
                  <a:schemeClr val="dk1"/>
                </a:solidFill>
              </a:rPr>
              <a:t>ResNet50.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Develop a real-time prediction system using a web-based interface such as Streamlit.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Provide disease prediction with confidence score from an uploaded tomato leaf image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34" name="Google Shape;34;p3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Tomato Disease Classes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0">
                <a:solidFill>
                  <a:schemeClr val="dk1"/>
                </a:solidFill>
              </a:rPr>
              <a:t>The project focuses on the following 10 tomato leaf classes: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Bacterial Spot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Early Blight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Late Blight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Leaf Mold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Septoria Leaf Spot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Target Spot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Spider Mites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Mosaic Virus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Yellow Leaf Curl Virus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Healthy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Dataset Description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Dataset source: PlantVillage dataset.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dataset contains labelled images of healthy and diseased tomato leaves.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Only tomato leaf images are selected from the complete PlantVillage dataset.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selected dataset contains 10 tomato classes.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Each image belongs to one disease category or the healthy category.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dataset is divided into training, validation, and testing sets.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Images are used to train </a:t>
            </a:r>
            <a:r>
              <a:rPr lang="en-US" b="0" dirty="0">
                <a:solidFill>
                  <a:schemeClr val="dk1"/>
                </a:solidFill>
              </a:rPr>
              <a:t>the </a:t>
            </a:r>
            <a:r>
              <a:rPr lang="en-US" b="0">
                <a:solidFill>
                  <a:schemeClr val="dk1"/>
                </a:solidFill>
              </a:rPr>
              <a:t>model to identify visual disease symptoms such as spots, yellowing, curling, mold, and blight patterns.</a:t>
            </a:r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Methodology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Load tomato leaf images from the selected PlantVillage dataset.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Resize all images to a fixed size, such as 224 × 224 pixels.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Normalize image pixel values for stable model training.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Apply data augmentation techniques to improve model generalization.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Load a pre-trained deep learning model such as ResNet18 or ResNet50.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Replace the final classification layer according to the 10 tomato classes.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Train the model using tomato disease images.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Evaluate the model using accuracy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precision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recall, F1-score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and confusion matrix.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System Design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Input Module: The user uploads a tomato leaf image through the web interface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Preprocessing Module: The uploaded image is resized, normalized, and converted into tensor format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Feature Extraction Module: The deep learning model extracts visual features such as leaf spots, color changes, texture patterns, and damaged regions.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Classification Module: The trained model predicts one class from the 10 tomato disease categories.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Output Module: The system displays the predicted tomato disease name along with the confidence score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Tools and Technologies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Programming Language: Python 3.x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Deep Learning Framework: PyTorch and torchvision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Transfer Learning Models: ResNet18 and ResNet50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Web Framework: Streamlit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Image Processing: PIL/Pillow, OpenCV,</a:t>
            </a:r>
            <a:r>
              <a:rPr lang="en-US" b="0" dirty="0">
                <a:solidFill>
                  <a:schemeClr val="dk1"/>
                </a:solidFill>
              </a:rPr>
              <a:t> </a:t>
            </a:r>
            <a:r>
              <a:rPr lang="en-US" b="0">
                <a:solidFill>
                  <a:schemeClr val="dk1"/>
                </a:solidFill>
              </a:rPr>
              <a:t>NumPy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Visualization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Evaluation: matplotlib, scikit-learn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Dataset: PlantVillage tomato leaf disease</a:t>
            </a:r>
            <a:r>
              <a:rPr lang="en-US" b="0" dirty="0">
                <a:solidFill>
                  <a:schemeClr val="dk1"/>
                </a:solidFill>
              </a:rPr>
              <a:t> </a:t>
            </a:r>
            <a:r>
              <a:rPr lang="en-US" b="0">
                <a:solidFill>
                  <a:schemeClr val="dk1"/>
                </a:solidFill>
              </a:rPr>
              <a:t>dataset</a:t>
            </a:r>
          </a:p>
        </p:txBody>
      </p:sp>
      <p:sp>
        <p:nvSpPr>
          <p:cNvPr id="69" name="Google Shape;69;p8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Implementation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Load the selected tomato disease dataset.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Organize images into class-specific folders.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Apply image transformations such as resizing, normalization, and augmentation.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Load a pre-trained </a:t>
            </a:r>
            <a:r>
              <a:rPr lang="en-US" b="0" dirty="0">
                <a:solidFill>
                  <a:schemeClr val="dk1"/>
                </a:solidFill>
              </a:rPr>
              <a:t>ResNet18 </a:t>
            </a:r>
            <a:r>
              <a:rPr lang="en-US" b="0">
                <a:solidFill>
                  <a:schemeClr val="dk1"/>
                </a:solidFill>
              </a:rPr>
              <a:t>or </a:t>
            </a:r>
            <a:r>
              <a:rPr lang="en-US" b="0" dirty="0">
                <a:solidFill>
                  <a:schemeClr val="dk1"/>
                </a:solidFill>
              </a:rPr>
              <a:t>ResNet50 </a:t>
            </a:r>
            <a:r>
              <a:rPr lang="en-US" b="0">
                <a:solidFill>
                  <a:schemeClr val="dk1"/>
                </a:solidFill>
              </a:rPr>
              <a:t>model.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Modify </a:t>
            </a:r>
            <a:r>
              <a:rPr lang="en-US" b="0" dirty="0">
                <a:solidFill>
                  <a:schemeClr val="dk1"/>
                </a:solidFill>
              </a:rPr>
              <a:t>the </a:t>
            </a:r>
            <a:r>
              <a:rPr lang="en-US" b="0">
                <a:solidFill>
                  <a:schemeClr val="dk1"/>
                </a:solidFill>
              </a:rPr>
              <a:t>final fully connected layer to output 10 tomato classes</a:t>
            </a:r>
            <a:r>
              <a:rPr lang="en-US" b="0" dirty="0">
                <a:solidFill>
                  <a:schemeClr val="dk1"/>
                </a:solidFill>
              </a:rPr>
              <a:t>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Train the model using the tomato leaf training dataset.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Validate the model using unseen validation images.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Save the trained model as model.pt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Save the class names as </a:t>
            </a:r>
            <a:r>
              <a:rPr lang="en-US" b="0" dirty="0">
                <a:solidFill>
                  <a:schemeClr val="dk1"/>
                </a:solidFill>
              </a:rPr>
              <a:t>classes</a:t>
            </a:r>
            <a:r>
              <a:rPr lang="en-US" b="0">
                <a:solidFill>
                  <a:schemeClr val="dk1"/>
                </a:solidFill>
              </a:rPr>
              <a:t>.json.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Use the saved model for real-time tomato disease prediction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Workflow</a:t>
            </a:r>
            <a:endParaRPr sz="4400" b="0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1: Select tomato leaf images from the PlantVillage dataset.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2: Divide the dataset into training, validation, and testing sets.</a:t>
            </a:r>
            <a:endParaRPr lang="en-US" b="0" dirty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3: Preprocess images by resizing and normalizing.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4: Apply data augmentation to improve model performance.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5: Train the ResNet-based transfer learning model.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6: Evaluate the trained model using test images.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7: Save the best model checkpoint.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8: Launch the Streamlit web application.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9: Upload a tomato leaf image.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Step 10: Display predicted disease name and confidence score.</a:t>
            </a:r>
            <a:endParaRPr lang="en-US"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>
                <a:solidFill>
                  <a:schemeClr val="dk1"/>
                </a:solidFill>
              </a:rPr>
              <a:t>Results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MetricBox1"/>
          <p:cNvSpPr/>
          <p:nvPr/>
        </p:nvSpPr>
        <p:spPr>
          <a:xfrm>
            <a:off x="457200" y="1600200"/>
            <a:ext cx="1800000" cy="1350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txBody>
          <a:bodyPr wrap="square" lIns="91425" tIns="91425" rIns="91425" bIns="45700" anchor="ctr" anchorCtr="1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3200" b="1">
                <a:solidFill>
                  <a:srgbClr val="2E7D32"/>
                </a:solidFill>
                <a:latin typeface="Calibri"/>
              </a:rPr>
              <a:t>99.72%</a:t>
            </a:r>
          </a:p>
          <a:p>
            <a:pPr algn="ctr">
              <a:buNone/>
            </a:pPr>
            <a:r>
              <a:rPr lang="en-US" sz="1100" b="0">
                <a:solidFill>
                  <a:srgbClr val="555555"/>
                </a:solidFill>
                <a:latin typeface="Calibri"/>
              </a:rPr>
              <a:t>Validation Accuracy</a:t>
            </a:r>
          </a:p>
        </p:txBody>
      </p:sp>
      <p:sp>
        <p:nvSpPr>
          <p:cNvPr id="101" name="MetricBox2"/>
          <p:cNvSpPr/>
          <p:nvPr/>
        </p:nvSpPr>
        <p:spPr>
          <a:xfrm>
            <a:off x="2600280" y="1600200"/>
            <a:ext cx="1800000" cy="13500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txBody>
          <a:bodyPr wrap="square" lIns="91425" tIns="91425" rIns="91425" bIns="45700" anchor="ctr" anchorCtr="1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3200" b="1">
                <a:solidFill>
                  <a:srgbClr val="1565C0"/>
                </a:solidFill>
                <a:latin typeface="Calibri"/>
              </a:rPr>
              <a:t>0.3228</a:t>
            </a:r>
          </a:p>
          <a:p>
            <a:pPr algn="ctr">
              <a:buNone/>
            </a:pPr>
            <a:r>
              <a:rPr lang="en-US" sz="1100" b="0">
                <a:solidFill>
                  <a:srgbClr val="555555"/>
                </a:solidFill>
                <a:latin typeface="Calibri"/>
              </a:rPr>
              <a:t>Training Loss</a:t>
            </a:r>
          </a:p>
        </p:txBody>
      </p:sp>
      <p:sp>
        <p:nvSpPr>
          <p:cNvPr id="102" name="MetricBox3"/>
          <p:cNvSpPr/>
          <p:nvPr/>
        </p:nvSpPr>
        <p:spPr>
          <a:xfrm>
            <a:off x="4743360" y="1600200"/>
            <a:ext cx="1800000" cy="1350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txBody>
          <a:bodyPr wrap="square" lIns="91425" tIns="91425" rIns="91425" bIns="45700" anchor="ctr" anchorCtr="1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E65100"/>
                </a:solidFill>
                <a:latin typeface="Calibri"/>
              </a:rPr>
              <a:t>1,359</a:t>
            </a:r>
          </a:p>
          <a:p>
            <a:pPr algn="ctr">
              <a:buNone/>
            </a:pPr>
            <a:r>
              <a:rPr lang="en-US" sz="1100" b="0" dirty="0">
                <a:solidFill>
                  <a:srgbClr val="555555"/>
                </a:solidFill>
                <a:latin typeface="Calibri"/>
              </a:rPr>
              <a:t>Total Images (Train + Val)</a:t>
            </a:r>
          </a:p>
        </p:txBody>
      </p:sp>
      <p:sp>
        <p:nvSpPr>
          <p:cNvPr id="103" name="MetricBox4"/>
          <p:cNvSpPr/>
          <p:nvPr/>
        </p:nvSpPr>
        <p:spPr>
          <a:xfrm>
            <a:off x="6886440" y="1600200"/>
            <a:ext cx="1800000" cy="1350000"/>
          </a:xfrm>
          <a:prstGeom prst="roundRect">
            <a:avLst>
              <a:gd name="adj" fmla="val 8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txBody>
          <a:bodyPr wrap="square" lIns="91425" tIns="91425" rIns="91425" bIns="45700" anchor="ctr" anchorCtr="1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7B1FA2"/>
                </a:solidFill>
                <a:latin typeface="Calibri"/>
              </a:rPr>
              <a:t>83.32%</a:t>
            </a:r>
          </a:p>
          <a:p>
            <a:pPr algn="ctr">
              <a:buNone/>
            </a:pPr>
            <a:r>
              <a:rPr lang="en-US" sz="1100" b="0" dirty="0">
                <a:solidFill>
                  <a:srgbClr val="555555"/>
                </a:solidFill>
                <a:latin typeface="Calibri"/>
              </a:rPr>
              <a:t>Prediction Confidence</a:t>
            </a:r>
          </a:p>
        </p:txBody>
      </p:sp>
      <p:sp>
        <p:nvSpPr>
          <p:cNvPr id="104" name="KeyFindings"/>
          <p:cNvSpPr txBox="1"/>
          <p:nvPr/>
        </p:nvSpPr>
        <p:spPr>
          <a:xfrm>
            <a:off x="457200" y="3150000"/>
            <a:ext cx="8229240" cy="295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</a:rPr>
              <a:t>Key Findings</a:t>
            </a:r>
          </a:p>
          <a:p>
            <a:pPr marL="228600" indent="-228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dirty="0">
                <a:solidFill>
                  <a:schemeClr val="dk1"/>
                </a:solidFill>
                <a:latin typeface="Calibri"/>
              </a:rPr>
              <a:t>Model trained for 1 epoch using ResNet-18 with transfer learning on 10 tomato disease classes.</a:t>
            </a:r>
          </a:p>
          <a:p>
            <a:pPr marL="228600" indent="-228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dirty="0">
                <a:solidFill>
                  <a:schemeClr val="dk1"/>
                </a:solidFill>
                <a:latin typeface="Calibri"/>
              </a:rPr>
              <a:t>Achieved 99.72% validation accuracy, confirming the pipeline works correctly on the smoke dataset.</a:t>
            </a:r>
          </a:p>
          <a:p>
            <a:pPr marL="228600" indent="-228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dirty="0">
                <a:solidFill>
                  <a:schemeClr val="dk1"/>
                </a:solidFill>
                <a:latin typeface="Calibri"/>
              </a:rPr>
              <a:t>Random validation image correctly predicted as Tomato Healthy with 83.32% confidence.</a:t>
            </a:r>
          </a:p>
          <a:p>
            <a:pPr marL="228600" indent="-228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dirty="0">
                <a:solidFill>
                  <a:schemeClr val="dk1"/>
                </a:solidFill>
                <a:latin typeface="Calibri"/>
              </a:rPr>
              <a:t>Second-highest prediction: Tomato Bacterial Spot at 16.68% confidence.</a:t>
            </a:r>
          </a:p>
          <a:p>
            <a:pPr marL="228600" indent="-22860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dirty="0">
                <a:solidFill>
                  <a:schemeClr val="dk1"/>
                </a:solidFill>
                <a:latin typeface="Calibri"/>
              </a:rPr>
              <a:t>Pipeline validated end-to-end: dataset loading, preprocessing, training, saving, and inference.</a:t>
            </a:r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51DB-FFC7-B0F4-9308-56385A2E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olidFill>
                  <a:schemeClr val="dk1"/>
                </a:solidFill>
              </a:rPr>
              <a:t>Challenges and Solutions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D9577-4E3A-5F7A-1E9B-899845BF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Visual Similarity: Some tomato diseases have similar symptoms. Solution: Use transfer learning and fine-tune deeper layers.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Class Imbalance: Some disease classes may have fewer images. Solution: Use data augmentation and balanced sampling.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Overfitting: The model may memorize training images. Solution: Use augmentation, dropout, validation monitoring, and early stopping.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Field Image Variation: Real-world images may differ in lighting and quality. Solution: Train with diverse images and strong augmentation.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Disease Stage Difference: Early and severe symptoms appear different. Solution: Include images from different disease stages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290375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chemeClr val="dk1"/>
                </a:solidFill>
              </a:rPr>
              <a:t>Demo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A </a:t>
            </a:r>
            <a:r>
              <a:rPr lang="en-US" b="0">
                <a:solidFill>
                  <a:schemeClr val="dk1"/>
                </a:solidFill>
              </a:rPr>
              <a:t>Streamlit web application is used for real-time tomato disease prediction.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user uploads a tomato leaf image through the interface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uploaded image is preprocessed automatically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trained deep learning model predicts the tomato disease class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output displays: Predicted disease name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Confidence score</a:t>
            </a:r>
            <a:r>
              <a:rPr lang="en-US" b="0" dirty="0">
                <a:solidFill>
                  <a:schemeClr val="dk1"/>
                </a:solidFill>
              </a:rPr>
              <a:t>, </a:t>
            </a:r>
            <a:r>
              <a:rPr lang="en-US" b="0">
                <a:solidFill>
                  <a:schemeClr val="dk1"/>
                </a:solidFill>
              </a:rPr>
              <a:t>Uploaded image preview</a:t>
            </a:r>
            <a:r>
              <a:rPr lang="en-US" b="0" dirty="0">
                <a:solidFill>
                  <a:schemeClr val="dk1"/>
                </a:solidFill>
              </a:rPr>
              <a:t>.</a:t>
            </a:r>
            <a:endParaRPr lang="en-US" b="0">
              <a:solidFill>
                <a:schemeClr val="dk1"/>
              </a:solidFill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application makes the system simple </a:t>
            </a:r>
            <a:r>
              <a:rPr lang="en-US" b="0" dirty="0">
                <a:solidFill>
                  <a:schemeClr val="dk1"/>
                </a:solidFill>
              </a:rPr>
              <a:t>and </a:t>
            </a:r>
            <a:r>
              <a:rPr lang="en-US" b="0">
                <a:solidFill>
                  <a:schemeClr val="dk1"/>
                </a:solidFill>
              </a:rPr>
              <a:t>user-friendly.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complete workflow is: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Tomato Leaf Image Upload → Preprocessing → Model Prediction → Disease Name + Confidence Score</a:t>
            </a:r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chemeClr val="dk1"/>
                </a:solidFill>
                <a:sym typeface="Calibri"/>
              </a:rPr>
              <a:t>Advantages</a:t>
            </a:r>
            <a:endParaRPr b="0" dirty="0">
              <a:solidFill>
                <a:schemeClr val="dk1"/>
              </a:solidFill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Provides fast tomato leaf disease detection.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Reduces dependency on manual expert diagnosis.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Helps farmers take early action against disease spread.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Supports identification of multiple tomato diseases.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Can be deployed as a web or mobile application.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Transfer learning reduces training time and improves performance.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system can be used as a decision-support tool in agriculture.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rgbClr val="073763"/>
                </a:solidFill>
                <a:sym typeface="Calibri"/>
              </a:rPr>
              <a:t>Limitations</a:t>
            </a:r>
            <a:endParaRPr b="0" dirty="0">
              <a:solidFill>
                <a:srgbClr val="073763"/>
              </a:solidFill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model is trained mainly on PlantVillage images, which are captured in controlled conditions.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Real field images may contain background noise, shadows, blur, or overlapping leaves.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model may misclassify diseases with similar visual symptoms.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The system only predicts disease class and does not provide complete treatment recommendations.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Performance depends on image quality and proper leaf visibility.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More real-world tomato leaf images are needed for better generalization.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rgbClr val="073763"/>
                </a:solidFill>
                <a:sym typeface="Calibri"/>
              </a:rPr>
              <a:t>Future</a:t>
            </a:r>
            <a:r>
              <a:rPr lang="en-US" sz="4400" b="0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0" dirty="0">
                <a:solidFill>
                  <a:srgbClr val="073763"/>
                </a:solidFill>
                <a:sym typeface="Calibri"/>
              </a:rPr>
              <a:t>Enhancements</a:t>
            </a:r>
            <a:endParaRPr b="0" dirty="0">
              <a:solidFill>
                <a:srgbClr val="073763"/>
              </a:solidFill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Collect real-time tomato leaf images from farms.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Improve model accuracy using larger and more diverse datasets.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Deploy the system as a mobile application for farmers.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Add disease severity estimation.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Provide pesticide or treatment recommendations.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Add multilingual support for farmers.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Use explainable AI techniques such as heatmaps to show affected leaf regions.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>
                <a:solidFill>
                  <a:schemeClr val="dk1"/>
                </a:solidFill>
              </a:rPr>
              <a:t>Integrate the model with IoT or smart farming systems.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0" dirty="0">
                <a:solidFill>
                  <a:srgbClr val="073763"/>
                </a:solidFill>
                <a:sym typeface="Calibri"/>
              </a:rPr>
              <a:t>Conclusion</a:t>
            </a:r>
            <a:endParaRPr b="0" dirty="0">
              <a:solidFill>
                <a:srgbClr val="073763"/>
              </a:solidFill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This project focuses on tomato leaf disease detection using deep learning and transfer learning.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The system classifies tomato leaves into 10 categories, including 9 diseases and 1 healthy class.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 err="1">
                <a:solidFill>
                  <a:schemeClr val="dk1"/>
                </a:solidFill>
              </a:rPr>
              <a:t>ResNet</a:t>
            </a:r>
            <a:r>
              <a:rPr lang="en-US" b="0" dirty="0">
                <a:solidFill>
                  <a:schemeClr val="dk1"/>
                </a:solidFill>
              </a:rPr>
              <a:t>-based transfer learning helps achieve better performance with reduced training time.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The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 interface allows users to upload tomato leaf images and receive instant predictions.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The proposed system can support farmers by enabling early and accessible tomato disease diagnosis.</a:t>
            </a: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b="0" dirty="0">
                <a:solidFill>
                  <a:schemeClr val="dk1"/>
                </a:solidFill>
              </a:rPr>
              <a:t>Future improvements can make the system more practical for real-field agricultural use.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D51DB-FFC7-B0F4-9308-56385A2E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chemeClr val="dk1"/>
                </a:solidFill>
              </a:rPr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D9577-4E3A-5F7A-1E9B-899845BF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65945-3D77-BCC1-F441-8BC372F18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4198"/>
            <a:ext cx="9144000" cy="48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593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73763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References</a:t>
            </a:r>
            <a:endParaRPr sz="4400" b="0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0" dirty="0">
                <a:solidFill>
                  <a:schemeClr val="dk1"/>
                </a:solidFill>
              </a:rPr>
              <a:t>[1] </a:t>
            </a:r>
            <a:r>
              <a:rPr lang="en-US" b="0" dirty="0" err="1">
                <a:solidFill>
                  <a:schemeClr val="dk1"/>
                </a:solidFill>
              </a:rPr>
              <a:t>PlantVillage</a:t>
            </a:r>
            <a:r>
              <a:rPr lang="en-US" b="0" dirty="0">
                <a:solidFill>
                  <a:schemeClr val="dk1"/>
                </a:solidFill>
              </a:rPr>
              <a:t> Dataset — Tomato leaf disease image dataset.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0" dirty="0">
                <a:solidFill>
                  <a:schemeClr val="dk1"/>
                </a:solidFill>
              </a:rPr>
              <a:t>[2] </a:t>
            </a:r>
            <a:r>
              <a:rPr lang="en-US" b="0" dirty="0" err="1">
                <a:solidFill>
                  <a:schemeClr val="dk1"/>
                </a:solidFill>
              </a:rPr>
              <a:t>PyTorch</a:t>
            </a:r>
            <a:r>
              <a:rPr lang="en-US" b="0" dirty="0">
                <a:solidFill>
                  <a:schemeClr val="dk1"/>
                </a:solidFill>
              </a:rPr>
              <a:t> Documentation — </a:t>
            </a:r>
            <a:r>
              <a:rPr lang="en-US" b="0" dirty="0" err="1">
                <a:solidFill>
                  <a:schemeClr val="dk1"/>
                </a:solidFill>
              </a:rPr>
              <a:t>torchvision.models</a:t>
            </a:r>
            <a:r>
              <a:rPr lang="en-US" b="0" dirty="0">
                <a:solidFill>
                  <a:schemeClr val="dk1"/>
                </a:solidFill>
              </a:rPr>
              <a:t> for ResNet18 and ResNet50.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0" dirty="0">
                <a:solidFill>
                  <a:schemeClr val="dk1"/>
                </a:solidFill>
              </a:rPr>
              <a:t>[3] Mohanty, S. P., Hughes, D. P., &amp; </a:t>
            </a:r>
            <a:r>
              <a:rPr lang="en-US" b="0" dirty="0" err="1">
                <a:solidFill>
                  <a:schemeClr val="dk1"/>
                </a:solidFill>
              </a:rPr>
              <a:t>Salathé</a:t>
            </a:r>
            <a:r>
              <a:rPr lang="en-US" b="0" dirty="0">
                <a:solidFill>
                  <a:schemeClr val="dk1"/>
                </a:solidFill>
              </a:rPr>
              <a:t>, M., “Using Deep Learning for Image-Based Plant Disease Detection,” Frontiers in Plant Science, 2016.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0" dirty="0">
                <a:solidFill>
                  <a:schemeClr val="dk1"/>
                </a:solidFill>
              </a:rPr>
              <a:t>[4] </a:t>
            </a:r>
            <a:r>
              <a:rPr lang="en-US" b="0" dirty="0" err="1">
                <a:solidFill>
                  <a:schemeClr val="dk1"/>
                </a:solidFill>
              </a:rPr>
              <a:t>Tugrul</a:t>
            </a:r>
            <a:r>
              <a:rPr lang="en-US" b="0" dirty="0">
                <a:solidFill>
                  <a:schemeClr val="dk1"/>
                </a:solidFill>
              </a:rPr>
              <a:t>, B. et al., “Convolutional Neural Networks in Detection of Plant Leaf Diseases: A Review,” Agriculture, 2022.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b="0" dirty="0">
                <a:solidFill>
                  <a:schemeClr val="dk1"/>
                </a:solidFill>
              </a:rPr>
              <a:t>[5] </a:t>
            </a:r>
            <a:r>
              <a:rPr lang="en-US" b="0" dirty="0" err="1">
                <a:solidFill>
                  <a:schemeClr val="dk1"/>
                </a:solidFill>
              </a:rPr>
              <a:t>Streamlit</a:t>
            </a:r>
            <a:r>
              <a:rPr lang="en-US" b="0" dirty="0">
                <a:solidFill>
                  <a:schemeClr val="dk1"/>
                </a:solidFill>
              </a:rPr>
              <a:t> Documentation — Web application development for machine learning models.</a:t>
            </a:r>
          </a:p>
        </p:txBody>
      </p:sp>
      <p:sp>
        <p:nvSpPr>
          <p:cNvPr id="27" name="Google Shape;27;p2"/>
          <p:cNvSpPr txBox="1">
            <a:spLocks noGrp="1"/>
          </p:cNvSpPr>
          <p:nvPr>
            <p:ph type="sldNum" idx="4294967295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-1">
  <a:themeElements>
    <a:clrScheme name="Office">
      <a:dk1>
        <a:srgbClr val="073763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1504</Words>
  <Application>Microsoft Office PowerPoint</Application>
  <PresentationFormat>On-screen Show (4:3)</PresentationFormat>
  <Paragraphs>169</Paragraphs>
  <Slides>19</Slides>
  <Notes>12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Internal-1</vt:lpstr>
      <vt:lpstr>Tomato Leaf Disease Detection</vt:lpstr>
      <vt:lpstr>Problem Statement</vt:lpstr>
      <vt:lpstr>Objectives</vt:lpstr>
      <vt:lpstr>Tomato Disease Classes</vt:lpstr>
      <vt:lpstr>Dataset Description</vt:lpstr>
      <vt:lpstr>Methodology</vt:lpstr>
      <vt:lpstr>System Design</vt:lpstr>
      <vt:lpstr>Tools and Technologies</vt:lpstr>
      <vt:lpstr>Implementation</vt:lpstr>
      <vt:lpstr>Workflow</vt:lpstr>
      <vt:lpstr>Results</vt:lpstr>
      <vt:lpstr>Challenges and Solutions</vt:lpstr>
      <vt:lpstr>Demo</vt:lpstr>
      <vt:lpstr>Advantages</vt:lpstr>
      <vt:lpstr>Limitations</vt:lpstr>
      <vt:lpstr>Future Enhancements</vt:lpstr>
      <vt:lpstr>Conclusion</vt:lpstr>
      <vt:lpstr>Demo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Shivayogi  V Ballolli</cp:lastModifiedBy>
  <cp:revision>19</cp:revision>
  <dcterms:created xsi:type="dcterms:W3CDTF">2013-01-27T09:14:16Z</dcterms:created>
  <dcterms:modified xsi:type="dcterms:W3CDTF">2026-05-13T08:12:57Z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