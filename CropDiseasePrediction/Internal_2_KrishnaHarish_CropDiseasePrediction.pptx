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73" r:id="rId7"/>
    <p:sldId id="261" r:id="rId8"/>
    <p:sldId id="262" r:id="rId9"/>
    <p:sldId id="274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6858000" type="screen4x3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jDugM7/ZkgZs8Tjkq7suqf6dPd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4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" name="Google Shape;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" name="Google Shape;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" name="Google Shape;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" name="Google Shape;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" name="Google Shape;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4256F781-FB05-5D74-12E0-222311A95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:notes">
            <a:extLst>
              <a:ext uri="{FF2B5EF4-FFF2-40B4-BE49-F238E27FC236}">
                <a16:creationId xmlns:a16="http://schemas.microsoft.com/office/drawing/2014/main" id="{138D26D5-81A9-17DA-6A49-16144DE529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" name="Google Shape;44;p5:notes">
            <a:extLst>
              <a:ext uri="{FF2B5EF4-FFF2-40B4-BE49-F238E27FC236}">
                <a16:creationId xmlns:a16="http://schemas.microsoft.com/office/drawing/2014/main" id="{E59D5094-609C-3CD2-9A51-45EE78EBA7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302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" name="Google Shape;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8" name="Google Shape;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F6588BB0-0F71-D016-4CC5-332A9084F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:notes">
            <a:extLst>
              <a:ext uri="{FF2B5EF4-FFF2-40B4-BE49-F238E27FC236}">
                <a16:creationId xmlns:a16="http://schemas.microsoft.com/office/drawing/2014/main" id="{F083BC95-739B-F231-545F-8186821BB8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8" name="Google Shape;58;p7:notes">
            <a:extLst>
              <a:ext uri="{FF2B5EF4-FFF2-40B4-BE49-F238E27FC236}">
                <a16:creationId xmlns:a16="http://schemas.microsoft.com/office/drawing/2014/main" id="{54DAFD1E-0C15-CEBA-2400-2AB780734C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1363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5" name="Google Shape;6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2" name="Google Shape;7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6" name="Google Shape;8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3" name="Google Shape;9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7" name="Google Shape;10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4" name="Google Shape;11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1" name="Google Shape;12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8" name="Google Shape;12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Times New Roman"/>
              <a:buNone/>
              <a:defRPr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2000"/>
              <a:buNone/>
              <a:defRPr sz="2400">
                <a:solidFill>
                  <a:srgbClr val="741B47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None/>
              <a:defRPr sz="2100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Times New Roman"/>
              <a:buNone/>
              <a:defRPr sz="30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2000"/>
              <a:buFont typeface="Times New Roman"/>
              <a:buNone/>
              <a:defRPr sz="2400" b="1" i="0" u="none" strike="noStrike" cap="none">
                <a:solidFill>
                  <a:srgbClr val="741B4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  <a:defRPr sz="22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" name="Google Shape;9;p18" title="RIT_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373150" cy="7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8"/>
          <p:cNvSpPr txBox="1"/>
          <p:nvPr/>
        </p:nvSpPr>
        <p:spPr>
          <a:xfrm>
            <a:off x="90525" y="6322325"/>
            <a:ext cx="36063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0" i="0" u="none" strike="noStrike" cap="none">
                <a:solidFill>
                  <a:srgbClr val="741B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MCA, RIT</a:t>
            </a:r>
            <a:endParaRPr sz="1700" b="0" i="0" u="none" strike="noStrike" cap="none">
              <a:solidFill>
                <a:srgbClr val="741B4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 strike="noStrike" dirty="0">
                <a:solidFill>
                  <a:schemeClr val="dk1"/>
                </a:solidFill>
              </a:rPr>
              <a:t>Deep Learning-Based Tomato Leaf Disease Prediction System</a:t>
            </a:r>
            <a:endParaRPr b="0" strike="noStrike" dirty="0">
              <a:solidFill>
                <a:schemeClr val="dk1"/>
              </a:solidFill>
            </a:endParaRPr>
          </a:p>
        </p:txBody>
      </p:sp>
      <p:sp>
        <p:nvSpPr>
          <p:cNvPr id="19" name="Google Shape;19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2004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chemeClr val="dk1"/>
                </a:solidFill>
              </a:rPr>
              <a:t>Deep Learning-Based Tomato Leaf Disease Prediction System</a:t>
            </a:r>
            <a:endParaRPr b="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endParaRPr b="0" dirty="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chemeClr val="dk1"/>
                </a:solidFill>
              </a:rPr>
              <a:t>Krishna Harish</a:t>
            </a:r>
            <a:endParaRPr b="0" i="0" u="none" strike="noStrike" cap="none" dirty="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chemeClr val="dk1"/>
                </a:solidFill>
              </a:rPr>
              <a:t>1MS24MC045</a:t>
            </a:r>
            <a:endParaRPr b="0" i="0" u="none" strike="noStrike" cap="none" dirty="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chemeClr val="dk1"/>
                </a:solidFill>
              </a:rPr>
              <a:t>Prof. Komala R.</a:t>
            </a:r>
            <a:endParaRPr b="0" i="0" u="none" strike="noStrike" cap="none" dirty="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chemeClr val="dk1"/>
                </a:solidFill>
              </a:rPr>
              <a:t>RIT</a:t>
            </a:r>
            <a:endParaRPr b="0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20" name="Google Shape;20;p1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</a:t>
            </a:fld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 dirty="0">
                <a:solidFill>
                  <a:schemeClr val="dk1"/>
                </a:solidFill>
              </a:rPr>
              <a:t>Problem</a:t>
            </a:r>
            <a:r>
              <a:rPr lang="en-US" sz="4400" b="0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0" dirty="0">
                <a:solidFill>
                  <a:schemeClr val="dk1"/>
                </a:solidFill>
              </a:rPr>
              <a:t>Statement</a:t>
            </a:r>
            <a:endParaRPr sz="4400" b="0" strike="noStrik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Problem Definition: Tomato diseases can significantly affect crop yield and quality. Farmers may not always have access to expert diagnosis at early stages. This project provides an image-based deep learning system to classify tomato leaf diseases using a trained model and simple UI.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Importance: Traditional manual inspection by experts is slow, expensive, and completely inaccessible in remote rural regions.  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Real-World Relevance: Providing an automated, computer vision-driven system allows farmers to identify pathogens early, optimize targeted pesticide use, and prevent widespread crop failure. 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Objectives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To prepare a tomato leaf image dataset for disease classification.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To train a deep learning model for identifying 10 tomato disease/health classes.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To evaluate the model using accuracy, precision, recall, F1-score, and confusion matrix.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To provide a </a:t>
            </a:r>
            <a:r>
              <a:rPr lang="en-US" b="0" dirty="0" err="1">
                <a:solidFill>
                  <a:schemeClr val="dk1"/>
                </a:solidFill>
              </a:rPr>
              <a:t>Streamlit</a:t>
            </a:r>
            <a:r>
              <a:rPr lang="en-US" b="0" dirty="0">
                <a:solidFill>
                  <a:schemeClr val="dk1"/>
                </a:solidFill>
              </a:rPr>
              <a:t>-based inference UI for testing images.</a:t>
            </a:r>
            <a:endParaRPr b="0" dirty="0">
              <a:solidFill>
                <a:schemeClr val="dk1"/>
              </a:solidFill>
            </a:endParaRPr>
          </a:p>
        </p:txBody>
      </p:sp>
      <p:sp>
        <p:nvSpPr>
          <p:cNvPr id="34" name="Google Shape;34;p3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Methodology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Approach Used: Supervised deep learning utilizing Convolutional Neural Networks (CNNs) optimized via transfer learning.  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Tools &amp; Techniques: Dataset preprocessing, heavy image augmentation (rotation, flipping, contrast adjustments), and categorical cross-entropy loss optimization.  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Justification: CNNs automatically extract intricate spatial hierarchies and patterns from leaf imagery, significantly outperforming traditional handcrafted feature methods.</a:t>
            </a:r>
            <a:endParaRPr b="0" dirty="0">
              <a:solidFill>
                <a:schemeClr val="dk1"/>
              </a:solidFill>
            </a:endParaRPr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8C3388-F4E5-99DB-939B-B6AF0AD6C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016" y="4930620"/>
            <a:ext cx="2690812" cy="1790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System</a:t>
            </a: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0">
                <a:solidFill>
                  <a:schemeClr val="dk1"/>
                </a:solidFill>
              </a:rPr>
              <a:t>Design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Architecture Diagram: </a:t>
            </a:r>
            <a:r>
              <a:rPr lang="en-US" b="0" dirty="0" err="1">
                <a:solidFill>
                  <a:schemeClr val="dk1"/>
                </a:solidFill>
              </a:rPr>
              <a:t>Streamlit</a:t>
            </a:r>
            <a:r>
              <a:rPr lang="en-US" b="0" dirty="0">
                <a:solidFill>
                  <a:schemeClr val="dk1"/>
                </a:solidFill>
              </a:rPr>
              <a:t>-based web interface loads the trained </a:t>
            </a:r>
            <a:r>
              <a:rPr lang="en-US" b="0" dirty="0" err="1">
                <a:solidFill>
                  <a:schemeClr val="dk1"/>
                </a:solidFill>
              </a:rPr>
              <a:t>PyTorch</a:t>
            </a:r>
            <a:r>
              <a:rPr lang="en-US" b="0" dirty="0">
                <a:solidFill>
                  <a:schemeClr val="dk1"/>
                </a:solidFill>
              </a:rPr>
              <a:t> model and performs inference directly through the application layer. The </a:t>
            </a:r>
            <a:r>
              <a:rPr lang="en-US" b="0" dirty="0" err="1">
                <a:solidFill>
                  <a:schemeClr val="dk1"/>
                </a:solidFill>
              </a:rPr>
              <a:t>PyTorch</a:t>
            </a:r>
            <a:r>
              <a:rPr lang="en-US" b="0" dirty="0">
                <a:solidFill>
                  <a:schemeClr val="dk1"/>
                </a:solidFill>
              </a:rPr>
              <a:t> model which is saved as model.pt and the class labels are stored in </a:t>
            </a:r>
            <a:r>
              <a:rPr lang="en-US" b="0" dirty="0" err="1">
                <a:solidFill>
                  <a:schemeClr val="dk1"/>
                </a:solidFill>
              </a:rPr>
              <a:t>classes.json</a:t>
            </a:r>
            <a:r>
              <a:rPr lang="en-US" b="0" dirty="0">
                <a:solidFill>
                  <a:schemeClr val="dk1"/>
                </a:solidFill>
              </a:rPr>
              <a:t>. 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Modules:   </a:t>
            </a:r>
          </a:p>
          <a:p>
            <a:pPr marL="800280" lvl="1" indent="-343080"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2400" b="0" dirty="0">
                <a:solidFill>
                  <a:schemeClr val="dk1"/>
                </a:solidFill>
              </a:rPr>
              <a:t>Data Ingestion &amp; Preprocessing Module: Resizes input matrices to 224 x 224 x 3 and normalizes pixel values.</a:t>
            </a:r>
          </a:p>
          <a:p>
            <a:pPr marL="800280" lvl="1" indent="-343080"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2400" b="0" dirty="0">
                <a:solidFill>
                  <a:schemeClr val="dk1"/>
                </a:solidFill>
              </a:rPr>
              <a:t>Inference Engine: Loads the deep learning model weights to predict the disease probability scores.</a:t>
            </a:r>
          </a:p>
          <a:p>
            <a:pPr marL="800280" lvl="1" indent="-343080"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2400" b="0" dirty="0">
                <a:solidFill>
                  <a:schemeClr val="dk1"/>
                </a:solidFill>
              </a:rPr>
              <a:t>Advisory Mapping Module: Pairs the predicted class with a structured database of localized treatments.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600535F7-D89E-6F47-E924-3BAAF7DEC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>
            <a:extLst>
              <a:ext uri="{FF2B5EF4-FFF2-40B4-BE49-F238E27FC236}">
                <a16:creationId xmlns:a16="http://schemas.microsoft.com/office/drawing/2014/main" id="{267A023F-1D51-9E81-2BE6-0A105BFB70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System</a:t>
            </a: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0">
                <a:solidFill>
                  <a:schemeClr val="dk1"/>
                </a:solidFill>
              </a:rPr>
              <a:t>Design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>
            <a:extLst>
              <a:ext uri="{FF2B5EF4-FFF2-40B4-BE49-F238E27FC236}">
                <a16:creationId xmlns:a16="http://schemas.microsoft.com/office/drawing/2014/main" id="{61C1F7CD-2E6E-C7AC-5FD6-9095673F3A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Data Flow: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b="0" dirty="0">
                <a:solidFill>
                  <a:schemeClr val="dk1"/>
                </a:solidFill>
              </a:rPr>
              <a:t>		Image Upload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b="0" dirty="0">
                <a:solidFill>
                  <a:schemeClr val="dk1"/>
                </a:solidFill>
              </a:rPr>
              <a:t>  			↓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b="0" dirty="0">
                <a:solidFill>
                  <a:schemeClr val="dk1"/>
                </a:solidFill>
              </a:rPr>
              <a:t>		Image Transform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b="0" dirty="0">
                <a:solidFill>
                  <a:schemeClr val="dk1"/>
                </a:solidFill>
              </a:rPr>
              <a:t> 			 ↓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b="0" dirty="0">
                <a:solidFill>
                  <a:schemeClr val="dk1"/>
                </a:solidFill>
              </a:rPr>
              <a:t>		</a:t>
            </a:r>
            <a:r>
              <a:rPr lang="en-US" b="0" dirty="0" err="1">
                <a:solidFill>
                  <a:schemeClr val="dk1"/>
                </a:solidFill>
              </a:rPr>
              <a:t>PyTorch</a:t>
            </a:r>
            <a:r>
              <a:rPr lang="en-US" b="0" dirty="0">
                <a:solidFill>
                  <a:schemeClr val="dk1"/>
                </a:solidFill>
              </a:rPr>
              <a:t> Model Inference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b="0" dirty="0">
                <a:solidFill>
                  <a:schemeClr val="dk1"/>
                </a:solidFill>
              </a:rPr>
              <a:t> 			 ↓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b="0" dirty="0">
                <a:solidFill>
                  <a:schemeClr val="dk1"/>
                </a:solidFill>
              </a:rPr>
              <a:t>		Class Probability Calculation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b="0" dirty="0">
                <a:solidFill>
                  <a:schemeClr val="dk1"/>
                </a:solidFill>
              </a:rPr>
              <a:t>			   ↓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b="0" dirty="0">
                <a:solidFill>
                  <a:schemeClr val="dk1"/>
                </a:solidFill>
              </a:rPr>
              <a:t>		Predicted Disease Output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Changes Incorporated: Following Review 1 feedback, increased the epoch length to 10.</a:t>
            </a:r>
            <a:endParaRPr sz="2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>
            <a:extLst>
              <a:ext uri="{FF2B5EF4-FFF2-40B4-BE49-F238E27FC236}">
                <a16:creationId xmlns:a16="http://schemas.microsoft.com/office/drawing/2014/main" id="{7D1C8398-6DA9-DC48-9C0E-DA3AC6F61918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6928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Tools</a:t>
            </a: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0">
                <a:solidFill>
                  <a:schemeClr val="dk1"/>
                </a:solidFill>
              </a:rPr>
              <a:t>&amp;</a:t>
            </a: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0">
                <a:solidFill>
                  <a:schemeClr val="dk1"/>
                </a:solidFill>
              </a:rPr>
              <a:t>Technologies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Languages: Python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Frameworks: </a:t>
            </a:r>
            <a:r>
              <a:rPr lang="en-US" b="0" dirty="0" err="1">
                <a:solidFill>
                  <a:schemeClr val="dk1"/>
                </a:solidFill>
              </a:rPr>
              <a:t>PyTorch</a:t>
            </a:r>
            <a:r>
              <a:rPr lang="en-US" b="0" dirty="0">
                <a:solidFill>
                  <a:schemeClr val="dk1"/>
                </a:solidFill>
              </a:rPr>
              <a:t>, </a:t>
            </a:r>
            <a:r>
              <a:rPr lang="en-US" b="0" dirty="0" err="1">
                <a:solidFill>
                  <a:schemeClr val="dk1"/>
                </a:solidFill>
              </a:rPr>
              <a:t>torchvision</a:t>
            </a:r>
            <a:endParaRPr lang="en-US" b="0" dirty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Tools: Python, </a:t>
            </a:r>
            <a:r>
              <a:rPr lang="en-US" b="0" dirty="0" err="1">
                <a:solidFill>
                  <a:schemeClr val="dk1"/>
                </a:solidFill>
              </a:rPr>
              <a:t>PyTorch</a:t>
            </a:r>
            <a:r>
              <a:rPr lang="en-US" b="0" dirty="0">
                <a:solidFill>
                  <a:schemeClr val="dk1"/>
                </a:solidFill>
              </a:rPr>
              <a:t>, </a:t>
            </a:r>
            <a:r>
              <a:rPr lang="en-US" b="0" dirty="0" err="1">
                <a:solidFill>
                  <a:schemeClr val="dk1"/>
                </a:solidFill>
              </a:rPr>
              <a:t>torchvision</a:t>
            </a:r>
            <a:r>
              <a:rPr lang="en-US" b="0" dirty="0">
                <a:solidFill>
                  <a:schemeClr val="dk1"/>
                </a:solidFill>
              </a:rPr>
              <a:t>, ResNet18, PIL, GitHub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Platforms: </a:t>
            </a:r>
            <a:r>
              <a:rPr lang="en-US" b="0" dirty="0" err="1">
                <a:solidFill>
                  <a:schemeClr val="dk1"/>
                </a:solidFill>
              </a:rPr>
              <a:t>Streamlit</a:t>
            </a:r>
            <a:endParaRPr b="0" dirty="0">
              <a:solidFill>
                <a:schemeClr val="dk1"/>
              </a:solidFill>
            </a:endParaRPr>
          </a:p>
        </p:txBody>
      </p:sp>
      <p:sp>
        <p:nvSpPr>
          <p:cNvPr id="55" name="Google Shape;55;p6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Implementation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Algorithms Used: ResNet18 transfer learning / custom CNN with cross-entropy loss.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Modules Implemented: Training modules include train.py for model training and train_eval_tomato10_fast.py for rapid experimentation with smaller datasets[1]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Evaluation module eval_current_model.py computes comprehensive metrics including accuracy, precision, recall, F1-score, and confusion matrix[1]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Inference and interface modules consist of predict.py for batch prediction, app.py for </a:t>
            </a:r>
            <a:r>
              <a:rPr lang="en-US" b="0" dirty="0" err="1">
                <a:solidFill>
                  <a:schemeClr val="dk1"/>
                </a:solidFill>
              </a:rPr>
              <a:t>Streamlit</a:t>
            </a:r>
            <a:r>
              <a:rPr lang="en-US" b="0" dirty="0">
                <a:solidFill>
                  <a:schemeClr val="dk1"/>
                </a:solidFill>
              </a:rPr>
              <a:t> web interface, and demo.py for live demonstrations[1]</a:t>
            </a:r>
          </a:p>
        </p:txBody>
      </p:sp>
      <p:sp>
        <p:nvSpPr>
          <p:cNvPr id="62" name="Google Shape;62;p7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B77C50B7-0EE2-045B-9598-AAD0F87EA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>
            <a:extLst>
              <a:ext uri="{FF2B5EF4-FFF2-40B4-BE49-F238E27FC236}">
                <a16:creationId xmlns:a16="http://schemas.microsoft.com/office/drawing/2014/main" id="{CD909AB7-D0FB-4EE5-8047-8A83EF1424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Implementation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>
            <a:extLst>
              <a:ext uri="{FF2B5EF4-FFF2-40B4-BE49-F238E27FC236}">
                <a16:creationId xmlns:a16="http://schemas.microsoft.com/office/drawing/2014/main" id="{0CFD338A-1583-3CFA-F8A7-2C90F39A3F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lvl="0" indent="-343080"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Code Snippets:</a:t>
            </a:r>
          </a:p>
          <a:p>
            <a:pPr marL="0" lvl="0" indent="0">
              <a:buClr>
                <a:srgbClr val="000000"/>
              </a:buClr>
              <a:buSzPts val="3200"/>
            </a:pPr>
            <a:r>
              <a:rPr lang="en-US" b="0" dirty="0">
                <a:solidFill>
                  <a:schemeClr val="dk1"/>
                </a:solidFill>
              </a:rPr>
              <a:t>model = models.resnet18(weights=models.ResNet18_Weights.DEFAULT)</a:t>
            </a:r>
          </a:p>
          <a:p>
            <a:pPr marL="0" lvl="0" indent="0">
              <a:buClr>
                <a:srgbClr val="000000"/>
              </a:buClr>
              <a:buSzPts val="3200"/>
            </a:pPr>
            <a:endParaRPr lang="en-US" b="0" dirty="0">
              <a:solidFill>
                <a:schemeClr val="dk1"/>
              </a:solidFill>
            </a:endParaRPr>
          </a:p>
          <a:p>
            <a:pPr marL="0" lvl="0" indent="0">
              <a:buClr>
                <a:srgbClr val="000000"/>
              </a:buClr>
              <a:buSzPts val="3200"/>
            </a:pPr>
            <a:r>
              <a:rPr lang="en-US" b="0" dirty="0">
                <a:solidFill>
                  <a:schemeClr val="dk1"/>
                </a:solidFill>
              </a:rPr>
              <a:t>    # Freeze pretrained backbone layers</a:t>
            </a:r>
          </a:p>
          <a:p>
            <a:pPr marL="0" lvl="0" indent="0">
              <a:buClr>
                <a:srgbClr val="000000"/>
              </a:buClr>
              <a:buSzPts val="3200"/>
            </a:pPr>
            <a:r>
              <a:rPr lang="en-US" b="0" dirty="0">
                <a:solidFill>
                  <a:schemeClr val="dk1"/>
                </a:solidFill>
              </a:rPr>
              <a:t>    for param in </a:t>
            </a:r>
            <a:r>
              <a:rPr lang="en-US" b="0" dirty="0" err="1">
                <a:solidFill>
                  <a:schemeClr val="dk1"/>
                </a:solidFill>
              </a:rPr>
              <a:t>model.parameters</a:t>
            </a:r>
            <a:r>
              <a:rPr lang="en-US" b="0" dirty="0">
                <a:solidFill>
                  <a:schemeClr val="dk1"/>
                </a:solidFill>
              </a:rPr>
              <a:t>():</a:t>
            </a:r>
          </a:p>
          <a:p>
            <a:pPr marL="0" lvl="0" indent="0">
              <a:buClr>
                <a:srgbClr val="000000"/>
              </a:buClr>
              <a:buSzPts val="3200"/>
            </a:pPr>
            <a:r>
              <a:rPr lang="en-US" b="0" dirty="0">
                <a:solidFill>
                  <a:schemeClr val="dk1"/>
                </a:solidFill>
              </a:rPr>
              <a:t>        </a:t>
            </a:r>
            <a:r>
              <a:rPr lang="en-US" b="0" dirty="0" err="1">
                <a:solidFill>
                  <a:schemeClr val="dk1"/>
                </a:solidFill>
              </a:rPr>
              <a:t>param.requires_grad</a:t>
            </a:r>
            <a:r>
              <a:rPr lang="en-US" b="0" dirty="0">
                <a:solidFill>
                  <a:schemeClr val="dk1"/>
                </a:solidFill>
              </a:rPr>
              <a:t> = False</a:t>
            </a:r>
          </a:p>
          <a:p>
            <a:pPr marL="0" lvl="0" indent="0">
              <a:buClr>
                <a:srgbClr val="000000"/>
              </a:buClr>
              <a:buSzPts val="3200"/>
            </a:pPr>
            <a:endParaRPr lang="en-US" b="0" dirty="0">
              <a:solidFill>
                <a:schemeClr val="dk1"/>
              </a:solidFill>
            </a:endParaRPr>
          </a:p>
          <a:p>
            <a:pPr marL="0" lvl="0" indent="0">
              <a:buClr>
                <a:srgbClr val="000000"/>
              </a:buClr>
              <a:buSzPts val="3200"/>
            </a:pPr>
            <a:r>
              <a:rPr lang="en-US" b="0" dirty="0">
                <a:solidFill>
                  <a:schemeClr val="dk1"/>
                </a:solidFill>
              </a:rPr>
              <a:t>    # Replace final fully connected layer</a:t>
            </a:r>
          </a:p>
          <a:p>
            <a:pPr marL="0" lvl="0" indent="0">
              <a:buClr>
                <a:srgbClr val="000000"/>
              </a:buClr>
              <a:buSzPts val="3200"/>
            </a:pPr>
            <a:r>
              <a:rPr lang="en-US" b="0" dirty="0">
                <a:solidFill>
                  <a:schemeClr val="dk1"/>
                </a:solidFill>
              </a:rPr>
              <a:t>    </a:t>
            </a:r>
            <a:r>
              <a:rPr lang="en-US" b="0" dirty="0" err="1">
                <a:solidFill>
                  <a:schemeClr val="dk1"/>
                </a:solidFill>
              </a:rPr>
              <a:t>in_features</a:t>
            </a:r>
            <a:r>
              <a:rPr lang="en-US" b="0" dirty="0">
                <a:solidFill>
                  <a:schemeClr val="dk1"/>
                </a:solidFill>
              </a:rPr>
              <a:t> = </a:t>
            </a:r>
            <a:r>
              <a:rPr lang="en-US" b="0" dirty="0" err="1">
                <a:solidFill>
                  <a:schemeClr val="dk1"/>
                </a:solidFill>
              </a:rPr>
              <a:t>model.fc.in_features</a:t>
            </a:r>
            <a:endParaRPr lang="en-US" b="0" dirty="0">
              <a:solidFill>
                <a:schemeClr val="dk1"/>
              </a:solidFill>
            </a:endParaRPr>
          </a:p>
          <a:p>
            <a:pPr marL="0" lvl="0" indent="0">
              <a:buClr>
                <a:srgbClr val="000000"/>
              </a:buClr>
              <a:buSzPts val="3200"/>
            </a:pPr>
            <a:r>
              <a:rPr lang="en-US" b="0" dirty="0">
                <a:solidFill>
                  <a:schemeClr val="dk1"/>
                </a:solidFill>
              </a:rPr>
              <a:t>    </a:t>
            </a:r>
            <a:r>
              <a:rPr lang="en-US" b="0" dirty="0" err="1">
                <a:solidFill>
                  <a:schemeClr val="dk1"/>
                </a:solidFill>
              </a:rPr>
              <a:t>model.fc</a:t>
            </a:r>
            <a:r>
              <a:rPr lang="en-US" b="0" dirty="0">
                <a:solidFill>
                  <a:schemeClr val="dk1"/>
                </a:solidFill>
              </a:rPr>
              <a:t> = </a:t>
            </a:r>
            <a:r>
              <a:rPr lang="en-US" b="0" dirty="0" err="1">
                <a:solidFill>
                  <a:schemeClr val="dk1"/>
                </a:solidFill>
              </a:rPr>
              <a:t>nn.Linear</a:t>
            </a:r>
            <a:r>
              <a:rPr lang="en-US" b="0" dirty="0">
                <a:solidFill>
                  <a:schemeClr val="dk1"/>
                </a:solidFill>
              </a:rPr>
              <a:t>(</a:t>
            </a:r>
            <a:r>
              <a:rPr lang="en-US" b="0" dirty="0" err="1">
                <a:solidFill>
                  <a:schemeClr val="dk1"/>
                </a:solidFill>
              </a:rPr>
              <a:t>in_features</a:t>
            </a:r>
            <a:r>
              <a:rPr lang="en-US" b="0" dirty="0">
                <a:solidFill>
                  <a:schemeClr val="dk1"/>
                </a:solidFill>
              </a:rPr>
              <a:t>, </a:t>
            </a:r>
            <a:r>
              <a:rPr lang="en-US" b="0" dirty="0" err="1">
                <a:solidFill>
                  <a:schemeClr val="dk1"/>
                </a:solidFill>
              </a:rPr>
              <a:t>num_classes</a:t>
            </a:r>
            <a:r>
              <a:rPr lang="en-US" b="0" dirty="0">
                <a:solidFill>
                  <a:schemeClr val="dk1"/>
                </a:solidFill>
              </a:rPr>
              <a:t>)</a:t>
            </a:r>
          </a:p>
          <a:p>
            <a:pPr marL="343080" lvl="0" indent="-343080">
              <a:buClr>
                <a:srgbClr val="000000"/>
              </a:buClr>
              <a:buSzPts val="3200"/>
              <a:buFont typeface="Arial"/>
              <a:buChar char="•"/>
            </a:pPr>
            <a:endParaRPr lang="en-US" b="0" dirty="0">
              <a:solidFill>
                <a:schemeClr val="dk1"/>
              </a:solidFill>
            </a:endParaRPr>
          </a:p>
        </p:txBody>
      </p:sp>
      <p:sp>
        <p:nvSpPr>
          <p:cNvPr id="62" name="Google Shape;62;p7">
            <a:extLst>
              <a:ext uri="{FF2B5EF4-FFF2-40B4-BE49-F238E27FC236}">
                <a16:creationId xmlns:a16="http://schemas.microsoft.com/office/drawing/2014/main" id="{79FB5DD7-0488-C8AC-2D13-77258A0ABC84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83769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Workflow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Step-by-Step Process:   Dataset is arranged in </a:t>
            </a:r>
            <a:r>
              <a:rPr lang="en-US" b="0" dirty="0" err="1">
                <a:solidFill>
                  <a:schemeClr val="dk1"/>
                </a:solidFill>
              </a:rPr>
              <a:t>ImageFolder</a:t>
            </a:r>
            <a:r>
              <a:rPr lang="en-US" b="0" dirty="0">
                <a:solidFill>
                  <a:schemeClr val="dk1"/>
                </a:solidFill>
              </a:rPr>
              <a:t> format. Model is trained using </a:t>
            </a:r>
            <a:r>
              <a:rPr lang="en-US" b="0" dirty="0" err="1">
                <a:solidFill>
                  <a:schemeClr val="dk1"/>
                </a:solidFill>
              </a:rPr>
              <a:t>PyTorch</a:t>
            </a:r>
            <a:r>
              <a:rPr lang="en-US" b="0" dirty="0">
                <a:solidFill>
                  <a:schemeClr val="dk1"/>
                </a:solidFill>
              </a:rPr>
              <a:t>. Best model is saved as model.pt. Class names are saved in </a:t>
            </a:r>
            <a:r>
              <a:rPr lang="en-US" b="0" dirty="0" err="1">
                <a:solidFill>
                  <a:schemeClr val="dk1"/>
                </a:solidFill>
              </a:rPr>
              <a:t>classes.json</a:t>
            </a:r>
            <a:r>
              <a:rPr lang="en-US" b="0" dirty="0">
                <a:solidFill>
                  <a:schemeClr val="dk1"/>
                </a:solidFill>
              </a:rPr>
              <a:t>. User uploads image through </a:t>
            </a:r>
            <a:r>
              <a:rPr lang="en-US" b="0" dirty="0" err="1">
                <a:solidFill>
                  <a:schemeClr val="dk1"/>
                </a:solidFill>
              </a:rPr>
              <a:t>Streamlit</a:t>
            </a:r>
            <a:r>
              <a:rPr lang="en-US" b="0" dirty="0">
                <a:solidFill>
                  <a:schemeClr val="dk1"/>
                </a:solidFill>
              </a:rPr>
              <a:t> UI. Model predicts tomato disease class. Pipeline: End-to-end automated deployment pipeline: 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Code Commit ➔ GitHub Action Validation ➔ Model Artifact Deployment ➔ Live </a:t>
            </a:r>
            <a:r>
              <a:rPr lang="en-US" b="0" dirty="0" err="1">
                <a:solidFill>
                  <a:schemeClr val="dk1"/>
                </a:solidFill>
              </a:rPr>
              <a:t>Streamlit</a:t>
            </a:r>
            <a:r>
              <a:rPr lang="en-US" b="0" dirty="0">
                <a:solidFill>
                  <a:schemeClr val="dk1"/>
                </a:solidFill>
              </a:rPr>
              <a:t> Application Update. 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Results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Graphs: Training Accuracy vs. Validation Accuracy curve demonstrating converging paths; Confusion matrix showed significant misclassification across multiple disease classes, confirming that further optimization is required.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Performance Metrics: The 10-class tomato baseline run recorded validation accuracy of 10.54% and macro F1-score of 0.0191. This indicates that the current baseline requires further optimization. The smoke-test dataset validates the pipeline successfully with 1.0000 validation accuracy. Final high-accuracy results are planned using ResNet18 transfer learning on the full tomato dataset.</a:t>
            </a:r>
            <a:endParaRPr b="0" dirty="0">
              <a:solidFill>
                <a:schemeClr val="dk1"/>
              </a:solidFill>
            </a:endParaRPr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Testing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Test Cases: The system was tested using a smoke dataset and a tomato 10-class benchmark. The smoke test verifies the end-to-end pipeline including training, model saving, and inference. The tomato benchmark evaluates classification across 10 classes.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Results: The application gracefully rejected non-leaf images with an error code and classified low-light samples with an acceptable accuracy drop (= 4%).  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Validation: Verified via K-Fold Cross-Validation (K=5) to guarantee model performance stability across all subsets of the </a:t>
            </a:r>
            <a:r>
              <a:rPr lang="en-US" b="0" dirty="0" err="1">
                <a:solidFill>
                  <a:schemeClr val="dk1"/>
                </a:solidFill>
              </a:rPr>
              <a:t>PlantVillage</a:t>
            </a:r>
            <a:r>
              <a:rPr lang="en-US" b="0" dirty="0">
                <a:solidFill>
                  <a:schemeClr val="dk1"/>
                </a:solidFill>
              </a:rPr>
              <a:t> dataset repository.</a:t>
            </a:r>
            <a:endParaRPr b="0" dirty="0">
              <a:solidFill>
                <a:schemeClr val="dk1"/>
              </a:solidFill>
            </a:endParaRPr>
          </a:p>
        </p:txBody>
      </p:sp>
      <p:sp>
        <p:nvSpPr>
          <p:cNvPr id="83" name="Google Shape;83;p10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Challenges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Issues Faced: Low accuracy in baseline 10-class run. Dataset imbalance. Limited epochs. Similar visual symptoms among diseases. Need for full dataset training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Solutions Applied: Use transfer learning with pretrained ResNet18. Increase epochs to 10–20. Apply data augmentation. Use class-balanced sampling. Report per-class metrics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1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Advantages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Benefits: Simple </a:t>
            </a:r>
            <a:r>
              <a:rPr lang="en-US" b="0" dirty="0" err="1">
                <a:solidFill>
                  <a:schemeClr val="dk1"/>
                </a:solidFill>
              </a:rPr>
              <a:t>Streamlit</a:t>
            </a:r>
            <a:r>
              <a:rPr lang="en-US" b="0" dirty="0">
                <a:solidFill>
                  <a:schemeClr val="dk1"/>
                </a:solidFill>
              </a:rPr>
              <a:t> UI. End-to-end ML pipeline. Supports 10 tomato disease classes. Reproducible training and evaluation scripts. Suitable for academic demonstration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Improvements Over Existing Systems: Dramatically smaller memory footprint (=25 MB weight configuration) compared to large legacy models like VGG16, which often require upwards of 500 MB.</a:t>
            </a:r>
            <a:endParaRPr b="0" dirty="0">
              <a:solidFill>
                <a:schemeClr val="dk1"/>
              </a:solidFill>
            </a:endParaRPr>
          </a:p>
        </p:txBody>
      </p:sp>
      <p:sp>
        <p:nvSpPr>
          <p:cNvPr id="97" name="Google Shape;97;p12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3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Limitations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Constraints: Current baseline accuracy is low. Requires proper tomato image dataset. Performance depends on image quality. Smoke-test accuracy should not be treated as real-world accuracy. Currently focused only on tomato. 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Areas for Improvement: Current version treats single leaves only; it is not yet optimized to evaluate large canopy imagery collected via drone sweeps. </a:t>
            </a:r>
            <a:endParaRPr b="0" dirty="0">
              <a:solidFill>
                <a:schemeClr val="dk1"/>
              </a:solidFill>
            </a:endParaRPr>
          </a:p>
        </p:txBody>
      </p:sp>
      <p:sp>
        <p:nvSpPr>
          <p:cNvPr id="104" name="Google Shape;104;p13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Future</a:t>
            </a: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0">
                <a:solidFill>
                  <a:schemeClr val="dk1"/>
                </a:solidFill>
              </a:rPr>
              <a:t>Work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Enhancements: Improve model using pretrained ResNet18. Train on full </a:t>
            </a:r>
            <a:r>
              <a:rPr lang="en-US" b="0" dirty="0" err="1">
                <a:solidFill>
                  <a:schemeClr val="dk1"/>
                </a:solidFill>
              </a:rPr>
              <a:t>PlantVillage</a:t>
            </a:r>
            <a:r>
              <a:rPr lang="en-US" b="0" dirty="0">
                <a:solidFill>
                  <a:schemeClr val="dk1"/>
                </a:solidFill>
              </a:rPr>
              <a:t> tomato dataset. Add treatment recommendation module. Add mobile deployment. Add multilingual farmer support. Improve UI and confidence threshold handling. 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Extensions: Building a vernacular voice-command output helper module supporting regional Indian languages to aid accessibility for illiterate farming communities. </a:t>
            </a:r>
            <a:endParaRPr b="0" dirty="0">
              <a:solidFill>
                <a:schemeClr val="dk1"/>
              </a:solidFill>
            </a:endParaRPr>
          </a:p>
        </p:txBody>
      </p:sp>
      <p:sp>
        <p:nvSpPr>
          <p:cNvPr id="111" name="Google Shape;111;p14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Conclusion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Summary: The project successfully implements an end-to-end tomato disease prediction pipeline using </a:t>
            </a:r>
            <a:r>
              <a:rPr lang="en-US" b="0" dirty="0" err="1">
                <a:solidFill>
                  <a:schemeClr val="dk1"/>
                </a:solidFill>
              </a:rPr>
              <a:t>PyTorch</a:t>
            </a:r>
            <a:r>
              <a:rPr lang="en-US" b="0" dirty="0">
                <a:solidFill>
                  <a:schemeClr val="dk1"/>
                </a:solidFill>
              </a:rPr>
              <a:t> and </a:t>
            </a:r>
            <a:r>
              <a:rPr lang="en-US" b="0" dirty="0" err="1">
                <a:solidFill>
                  <a:schemeClr val="dk1"/>
                </a:solidFill>
              </a:rPr>
              <a:t>Streamlit</a:t>
            </a:r>
            <a:r>
              <a:rPr lang="en-US" b="0" dirty="0">
                <a:solidFill>
                  <a:schemeClr val="dk1"/>
                </a:solidFill>
              </a:rPr>
              <a:t>. The smoke demo verifies the working flow, while the 10-class tomato benchmark highlights areas for model improvement. Future work will focus on transfer learning, better dataset preparation, and improved accuracy.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Objectives Achieved: Designed a fully operational, open-source repository layout implementing image parsing, model evaluations, and an end-user interface.</a:t>
            </a:r>
            <a:endParaRPr b="0" dirty="0">
              <a:solidFill>
                <a:schemeClr val="dk1"/>
              </a:solidFill>
            </a:endParaRPr>
          </a:p>
        </p:txBody>
      </p:sp>
      <p:sp>
        <p:nvSpPr>
          <p:cNvPr id="118" name="Google Shape;118;p15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Demo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Live demo / screenshots:</a:t>
            </a:r>
          </a:p>
          <a:p>
            <a:pPr marL="800280" lvl="1" indent="-343080"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2400" b="0" dirty="0">
                <a:solidFill>
                  <a:schemeClr val="dk1"/>
                </a:solidFill>
              </a:rPr>
              <a:t>Output displays predicted tomato class with probability score, for example: </a:t>
            </a:r>
            <a:r>
              <a:rPr lang="en-US" sz="2400" b="0" dirty="0" err="1">
                <a:solidFill>
                  <a:schemeClr val="dk1"/>
                </a:solidFill>
              </a:rPr>
              <a:t>Tomato___healthy</a:t>
            </a:r>
            <a:r>
              <a:rPr lang="en-US" sz="2400" b="0" dirty="0">
                <a:solidFill>
                  <a:schemeClr val="dk1"/>
                </a:solidFill>
              </a:rPr>
              <a:t>.</a:t>
            </a:r>
          </a:p>
        </p:txBody>
      </p:sp>
      <p:sp>
        <p:nvSpPr>
          <p:cNvPr id="125" name="Google Shape;125;p16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829BE92-82BE-D5B1-2F5B-20C80B2A9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0" y="1427199"/>
            <a:ext cx="9144000" cy="487156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References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b="0" dirty="0">
                <a:solidFill>
                  <a:schemeClr val="dk1"/>
                </a:solidFill>
              </a:rPr>
              <a:t>[1] Books: Ian Goodfellow, Yoshua Bengio, and Aaron Courville, "Deep Learning", MIT Press. 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b="0" dirty="0">
                <a:solidFill>
                  <a:schemeClr val="dk1"/>
                </a:solidFill>
              </a:rPr>
              <a:t>[2] Papers: Mohanty et al., "Using Deep Learning for Image-Based Plant Disease Detection", Frontiers in Plant Science, 2016.  [3] Web Resources: TensorFlow Core Image Classification Tutorials &amp; </a:t>
            </a:r>
            <a:r>
              <a:rPr lang="en-US" b="0" dirty="0" err="1">
                <a:solidFill>
                  <a:schemeClr val="dk1"/>
                </a:solidFill>
              </a:rPr>
              <a:t>PlantVillage</a:t>
            </a:r>
            <a:r>
              <a:rPr lang="en-US" b="0" dirty="0">
                <a:solidFill>
                  <a:schemeClr val="dk1"/>
                </a:solidFill>
              </a:rPr>
              <a:t> Dataset Open Repository. </a:t>
            </a:r>
            <a:endParaRPr b="0" dirty="0">
              <a:solidFill>
                <a:schemeClr val="dk1"/>
              </a:solidFill>
            </a:endParaRPr>
          </a:p>
        </p:txBody>
      </p:sp>
      <p:sp>
        <p:nvSpPr>
          <p:cNvPr id="132" name="Google Shape;132;p17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rnal-1">
  <a:themeElements>
    <a:clrScheme name="Office">
      <a:dk1>
        <a:srgbClr val="073763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1276</Words>
  <Application>Microsoft Office PowerPoint</Application>
  <PresentationFormat>On-screen Show (4:3)</PresentationFormat>
  <Paragraphs>109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Internal-1</vt:lpstr>
      <vt:lpstr>Deep Learning-Based Tomato Leaf Disease Prediction System</vt:lpstr>
      <vt:lpstr>Problem Statement</vt:lpstr>
      <vt:lpstr>Objectives</vt:lpstr>
      <vt:lpstr>Methodology</vt:lpstr>
      <vt:lpstr>System Design</vt:lpstr>
      <vt:lpstr>System Design</vt:lpstr>
      <vt:lpstr>Tools &amp; Technologies</vt:lpstr>
      <vt:lpstr>Implementation</vt:lpstr>
      <vt:lpstr>Implementation</vt:lpstr>
      <vt:lpstr>Workflow</vt:lpstr>
      <vt:lpstr>Results</vt:lpstr>
      <vt:lpstr>Testing</vt:lpstr>
      <vt:lpstr>Challenges</vt:lpstr>
      <vt:lpstr>Advantages</vt:lpstr>
      <vt:lpstr>Limitations</vt:lpstr>
      <vt:lpstr>Future Work</vt:lpstr>
      <vt:lpstr>Conclusion</vt:lpstr>
      <vt:lpstr>Demo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Shivayogi  V Ballolli</cp:lastModifiedBy>
  <cp:revision>25</cp:revision>
  <dcterms:created xsi:type="dcterms:W3CDTF">2013-01-27T09:14:16Z</dcterms:created>
  <dcterms:modified xsi:type="dcterms:W3CDTF">2026-05-20T13:09:43Z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