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hxGCFlAFcwn5H6UeEvS4PAFt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None/>
              <a:defRPr sz="2400">
                <a:solidFill>
                  <a:srgbClr val="741B47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100">
                <a:solidFill>
                  <a:schemeClr val="dk2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Font typeface="Times New Roman"/>
              <a:buNone/>
              <a:defRPr sz="2400" b="1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  <a:defRPr sz="220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9;p18" title="RI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73150" cy="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/>
        </p:nvSpPr>
        <p:spPr>
          <a:xfrm>
            <a:off x="90525" y="6322325"/>
            <a:ext cx="3606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MCA, RIT</a:t>
            </a:r>
            <a:endParaRPr sz="1700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strike="noStrike">
                <a:solidFill>
                  <a:schemeClr val="dk1"/>
                </a:solidFill>
              </a:rPr>
              <a:t>Crop Disease Prediction</a:t>
            </a:r>
            <a:endParaRPr b="0" strike="noStrike">
              <a:solidFill>
                <a:schemeClr val="dk1"/>
              </a:solidFill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292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Using Deep Learning and Transfer Learning for Agricultural Diagnosis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Krishna Harish</a:t>
            </a:r>
            <a:r>
              <a:rPr lang="en-US" b="0" i="0" u="none" strike="noStrike" cap="none">
                <a:solidFill>
                  <a:schemeClr val="dk1"/>
                </a:solidFill>
              </a:rPr>
              <a:t> (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1MS24MC045</a:t>
            </a:r>
            <a:r>
              <a:rPr lang="en-US" b="0" i="0" u="none" strike="noStrike" cap="none">
                <a:solidFill>
                  <a:schemeClr val="dk1"/>
                </a:solidFill>
              </a:rPr>
              <a:t>)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Guide: Prof. 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Komala R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Department of MCA, 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Ramaiah Institute of Technology</a:t>
            </a:r>
            <a:endParaRPr lang="en-US" b="0" i="0" u="none" strike="noStrike" cap="none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Academic Year 2025-2026</a:t>
            </a:r>
            <a:endParaRPr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Problem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Statement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Crop </a:t>
            </a:r>
            <a:r>
              <a:rPr lang="en-US" b="0" dirty="0">
                <a:solidFill>
                  <a:schemeClr val="dk1"/>
                </a:solidFill>
              </a:rPr>
              <a:t>diseases </a:t>
            </a:r>
            <a:r>
              <a:rPr lang="en-US" b="0">
                <a:solidFill>
                  <a:schemeClr val="dk1"/>
                </a:solidFill>
              </a:rPr>
              <a:t>cause 20-40% of global agricultural yield loss annually, threatening food security for millions.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Manual identification by plant pathologists is expensive, slow,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inaccessible to 500 million smallholder farms worldwide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Delayed or incorrect </a:t>
            </a:r>
            <a:r>
              <a:rPr lang="en-US" b="0" dirty="0">
                <a:solidFill>
                  <a:schemeClr val="dk1"/>
                </a:solidFill>
              </a:rPr>
              <a:t>diagnosis leads to </a:t>
            </a:r>
            <a:r>
              <a:rPr lang="en-US" b="0">
                <a:solidFill>
                  <a:schemeClr val="dk1"/>
                </a:solidFill>
              </a:rPr>
              <a:t>overuse of pesticides, increased costs,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further environmental damage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An automated, image-based deep learning </a:t>
            </a:r>
            <a:r>
              <a:rPr lang="en-US" b="0" dirty="0">
                <a:solidFill>
                  <a:schemeClr val="dk1"/>
                </a:solidFill>
              </a:rPr>
              <a:t>classifier can </a:t>
            </a:r>
            <a:r>
              <a:rPr lang="en-US" b="0">
                <a:solidFill>
                  <a:schemeClr val="dk1"/>
                </a:solidFill>
              </a:rPr>
              <a:t>provide </a:t>
            </a:r>
            <a:r>
              <a:rPr lang="en-US" b="0" dirty="0">
                <a:solidFill>
                  <a:schemeClr val="dk1"/>
                </a:solidFill>
              </a:rPr>
              <a:t>fast, </a:t>
            </a:r>
            <a:r>
              <a:rPr lang="en-US" b="0">
                <a:solidFill>
                  <a:schemeClr val="dk1"/>
                </a:solidFill>
              </a:rPr>
              <a:t>accurate, and </a:t>
            </a:r>
            <a:r>
              <a:rPr lang="en-US" b="0" dirty="0">
                <a:solidFill>
                  <a:schemeClr val="dk1"/>
                </a:solidFill>
              </a:rPr>
              <a:t>accessible diagnosis</a:t>
            </a:r>
            <a:r>
              <a:rPr lang="en-US" b="0">
                <a:solidFill>
                  <a:schemeClr val="dk1"/>
                </a:solidFill>
              </a:rPr>
              <a:t> from a single leaf photo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Objectives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Build an image classification model </a:t>
            </a:r>
            <a:r>
              <a:rPr lang="en-US" b="0">
                <a:solidFill>
                  <a:schemeClr val="dk1"/>
                </a:solidFill>
              </a:rPr>
              <a:t>to identify 38 </a:t>
            </a:r>
            <a:r>
              <a:rPr lang="en-US" b="0" dirty="0">
                <a:solidFill>
                  <a:schemeClr val="dk1"/>
                </a:solidFill>
              </a:rPr>
              <a:t>crop disease categories</a:t>
            </a:r>
            <a:r>
              <a:rPr lang="en-US" b="0">
                <a:solidFill>
                  <a:schemeClr val="dk1"/>
                </a:solidFill>
              </a:rPr>
              <a:t> across 14 plant species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Leverage </a:t>
            </a:r>
            <a:r>
              <a:rPr lang="en-US" b="0" dirty="0">
                <a:solidFill>
                  <a:schemeClr val="dk1"/>
                </a:solidFill>
              </a:rPr>
              <a:t>transfer learning </a:t>
            </a:r>
            <a:r>
              <a:rPr lang="en-US" b="0">
                <a:solidFill>
                  <a:schemeClr val="dk1"/>
                </a:solidFill>
              </a:rPr>
              <a:t>with pre-trained </a:t>
            </a:r>
            <a:r>
              <a:rPr lang="en-US" b="0" dirty="0">
                <a:solidFill>
                  <a:schemeClr val="dk1"/>
                </a:solidFill>
              </a:rPr>
              <a:t>ResNet18</a:t>
            </a:r>
            <a:r>
              <a:rPr lang="en-US" b="0">
                <a:solidFill>
                  <a:schemeClr val="dk1"/>
                </a:solidFill>
              </a:rPr>
              <a:t> and </a:t>
            </a:r>
            <a:r>
              <a:rPr lang="en-US" b="0" dirty="0">
                <a:solidFill>
                  <a:schemeClr val="dk1"/>
                </a:solidFill>
              </a:rPr>
              <a:t>ResNet50</a:t>
            </a:r>
            <a:r>
              <a:rPr lang="en-US" b="0">
                <a:solidFill>
                  <a:schemeClr val="dk1"/>
                </a:solidFill>
              </a:rPr>
              <a:t> models </a:t>
            </a:r>
            <a:r>
              <a:rPr lang="en-US" b="0" dirty="0">
                <a:solidFill>
                  <a:schemeClr val="dk1"/>
                </a:solidFill>
              </a:rPr>
              <a:t>for </a:t>
            </a:r>
            <a:r>
              <a:rPr lang="en-US" b="0">
                <a:solidFill>
                  <a:schemeClr val="dk1"/>
                </a:solidFill>
              </a:rPr>
              <a:t>high </a:t>
            </a:r>
            <a:r>
              <a:rPr lang="en-US" b="0" dirty="0">
                <a:solidFill>
                  <a:schemeClr val="dk1"/>
                </a:solidFill>
              </a:rPr>
              <a:t>accuracy</a:t>
            </a:r>
            <a:r>
              <a:rPr lang="en-US" b="0">
                <a:solidFill>
                  <a:schemeClr val="dk1"/>
                </a:solidFill>
              </a:rPr>
              <a:t> with limited training data.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Train on the PlantVillage dataset containing 54,306 labeled leaf images of healthy and diseased crops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Develop a real-time </a:t>
            </a:r>
            <a:r>
              <a:rPr lang="en-US" b="0" dirty="0">
                <a:solidFill>
                  <a:schemeClr val="dk1"/>
                </a:solidFill>
              </a:rPr>
              <a:t>inference pipeline </a:t>
            </a:r>
            <a:r>
              <a:rPr lang="en-US" b="0">
                <a:solidFill>
                  <a:schemeClr val="dk1"/>
                </a:solidFill>
              </a:rPr>
              <a:t>with a web-based </a:t>
            </a:r>
            <a:r>
              <a:rPr lang="en-US" b="0" dirty="0">
                <a:solidFill>
                  <a:schemeClr val="dk1"/>
                </a:solidFill>
              </a:rPr>
              <a:t>UI </a:t>
            </a:r>
            <a:r>
              <a:rPr lang="en-US" b="0">
                <a:solidFill>
                  <a:schemeClr val="dk1"/>
                </a:solidFill>
              </a:rPr>
              <a:t>using Streamlit for easy field deployment.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Achieve over 90% classification accuracy while keeping the model lightweight enough </a:t>
            </a:r>
            <a:r>
              <a:rPr lang="en-US" b="0" dirty="0">
                <a:solidFill>
                  <a:schemeClr val="dk1"/>
                </a:solidFill>
              </a:rPr>
              <a:t>for </a:t>
            </a:r>
            <a:r>
              <a:rPr lang="en-US" b="0">
                <a:solidFill>
                  <a:schemeClr val="dk1"/>
                </a:solidFill>
              </a:rPr>
              <a:t>edge devices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Methodology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Load pre-trained ResNet18/ResNet50 backbone from ImageNet (1.2M images, 1000 classes) as feature extractor.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Freeze all convolutional backbone layers to preserve learned visual representations </a:t>
            </a:r>
            <a:r>
              <a:rPr lang="en-US" b="0" dirty="0">
                <a:solidFill>
                  <a:schemeClr val="dk1"/>
                </a:solidFill>
              </a:rPr>
              <a:t>(</a:t>
            </a:r>
            <a:r>
              <a:rPr lang="en-US" b="0">
                <a:solidFill>
                  <a:schemeClr val="dk1"/>
                </a:solidFill>
              </a:rPr>
              <a:t>edges, textures, shapes</a:t>
            </a:r>
            <a:r>
              <a:rPr lang="en-US" b="0" dirty="0">
                <a:solidFill>
                  <a:schemeClr val="dk1"/>
                </a:solidFill>
              </a:rPr>
              <a:t>).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Replace the final fully connected layer with a custom classifier head matching 38 disease classes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Train only the classifier head</a:t>
            </a:r>
            <a:r>
              <a:rPr lang="en-US" b="0">
                <a:solidFill>
                  <a:schemeClr val="dk1"/>
                </a:solidFill>
              </a:rPr>
              <a:t> using CrossEntropyLoss and Adam optimizer with weight decay (1e-4).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Apply data augmentation </a:t>
            </a:r>
            <a:r>
              <a:rPr lang="en-US" b="0" dirty="0">
                <a:solidFill>
                  <a:schemeClr val="dk1"/>
                </a:solidFill>
              </a:rPr>
              <a:t>(</a:t>
            </a:r>
            <a:r>
              <a:rPr lang="en-US" b="0">
                <a:solidFill>
                  <a:schemeClr val="dk1"/>
                </a:solidFill>
              </a:rPr>
              <a:t>random horizontal flips, normalization with ImageNet mean/std</a:t>
            </a:r>
            <a:r>
              <a:rPr lang="en-US" b="0" dirty="0">
                <a:solidFill>
                  <a:schemeClr val="dk1"/>
                </a:solidFill>
              </a:rPr>
              <a:t>)</a:t>
            </a:r>
            <a:r>
              <a:rPr lang="en-US" b="0">
                <a:solidFill>
                  <a:schemeClr val="dk1"/>
                </a:solidFill>
              </a:rPr>
              <a:t> to improve generalization.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Design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Input Module: User uploads a leaf image via the Streamlit web interface for real-time analysis.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Preprocessing Pipeline: Images resized to 224x224 pixels and normalized using ImageNet mean and standard deviation values.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Feature Extraction: Frozen ResNet backbone extracts hierarchical visual features from the preprocessed leaf image.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Classification Head: Custom fully connected layer maps extracted features to one of 38 disease/health categories.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Output Module: Predicted disease label with confidence score displayed to </a:t>
            </a:r>
            <a:r>
              <a:rPr lang="en-US" b="0" dirty="0">
                <a:solidFill>
                  <a:schemeClr val="dk1"/>
                </a:solidFill>
              </a:rPr>
              <a:t>the </a:t>
            </a:r>
            <a:r>
              <a:rPr lang="en-US" b="0">
                <a:solidFill>
                  <a:schemeClr val="dk1"/>
                </a:solidFill>
              </a:rPr>
              <a:t>user for actionable diagnosis.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Tools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&amp;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Technologies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Language: Python</a:t>
            </a:r>
            <a:r>
              <a:rPr lang="en-US" b="0">
                <a:solidFill>
                  <a:schemeClr val="dk1"/>
                </a:solidFill>
              </a:rPr>
              <a:t> 3.x — model development, training, and deployment.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Deep Learning</a:t>
            </a:r>
            <a:r>
              <a:rPr lang="en-US" b="0" dirty="0">
                <a:solidFill>
                  <a:schemeClr val="dk1"/>
                </a:solidFill>
              </a:rPr>
              <a:t>: </a:t>
            </a:r>
            <a:r>
              <a:rPr lang="en-US" b="0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torchvision — architecture, pre-trained weights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transforms.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Web Framework: Streamlit — interactive UI for image upload and prediction.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Image Processing</a:t>
            </a:r>
            <a:r>
              <a:rPr lang="en-US" b="0" dirty="0">
                <a:solidFill>
                  <a:schemeClr val="dk1"/>
                </a:solidFill>
              </a:rPr>
              <a:t>: PIL</a:t>
            </a:r>
            <a:r>
              <a:rPr lang="en-US" b="0">
                <a:solidFill>
                  <a:schemeClr val="dk1"/>
                </a:solidFill>
              </a:rPr>
              <a:t> (Pillow) and NumPy — image loading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resizing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and tensor conversion.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ML Utilities: scikit-learn</a:t>
            </a:r>
            <a:r>
              <a:rPr lang="en-US" b="0" dirty="0">
                <a:solidFill>
                  <a:schemeClr val="dk1"/>
                </a:solidFill>
              </a:rPr>
              <a:t>, matplotlib, </a:t>
            </a:r>
            <a:r>
              <a:rPr lang="en-US" b="0">
                <a:solidFill>
                  <a:schemeClr val="dk1"/>
                </a:solidFill>
              </a:rPr>
              <a:t>tqdm — metrics evaluation, visualization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and training progress.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Dataset</a:t>
            </a:r>
            <a:r>
              <a:rPr lang="en-US" b="0" dirty="0">
                <a:solidFill>
                  <a:schemeClr val="dk1"/>
                </a:solidFill>
              </a:rPr>
              <a:t>: </a:t>
            </a:r>
            <a:r>
              <a:rPr lang="en-US" b="0">
                <a:solidFill>
                  <a:schemeClr val="dk1"/>
                </a:solidFill>
              </a:rPr>
              <a:t>Hugging Face Datasets </a:t>
            </a:r>
            <a:r>
              <a:rPr lang="en-US" b="0" dirty="0">
                <a:solidFill>
                  <a:schemeClr val="dk1"/>
                </a:solidFill>
              </a:rPr>
              <a:t>/</a:t>
            </a:r>
            <a:r>
              <a:rPr lang="en-US" b="0">
                <a:solidFill>
                  <a:schemeClr val="dk1"/>
                </a:solidFill>
              </a:rPr>
              <a:t> Zenodo — PlantVillage dataset download and management.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Model Initialization: Load </a:t>
            </a:r>
            <a:r>
              <a:rPr lang="en-US" b="0" dirty="0">
                <a:solidFill>
                  <a:schemeClr val="dk1"/>
                </a:solidFill>
              </a:rPr>
              <a:t>ResNet18</a:t>
            </a:r>
            <a:r>
              <a:rPr lang="en-US" b="0">
                <a:solidFill>
                  <a:schemeClr val="dk1"/>
                </a:solidFill>
              </a:rPr>
              <a:t> or </a:t>
            </a:r>
            <a:r>
              <a:rPr lang="en-US" b="0" dirty="0">
                <a:solidFill>
                  <a:schemeClr val="dk1"/>
                </a:solidFill>
              </a:rPr>
              <a:t>ResNet50 </a:t>
            </a:r>
            <a:r>
              <a:rPr lang="en-US" b="0">
                <a:solidFill>
                  <a:schemeClr val="dk1"/>
                </a:solidFill>
              </a:rPr>
              <a:t>with pre-trained ImageNet weights using torchvision.models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Classifier Replacement: </a:t>
            </a:r>
            <a:r>
              <a:rPr lang="en-US" b="0" dirty="0">
                <a:solidFill>
                  <a:schemeClr val="dk1"/>
                </a:solidFill>
              </a:rPr>
              <a:t>Replace </a:t>
            </a:r>
            <a:r>
              <a:rPr lang="en-US" b="0">
                <a:solidFill>
                  <a:schemeClr val="dk1"/>
                </a:solidFill>
              </a:rPr>
              <a:t>model.fc with nn.Linear(in_features, 38) to match PlantVillage class count.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Backbone Freezing: Set requires_grad=False for all convolutional layers, training only the new </a:t>
            </a:r>
            <a:r>
              <a:rPr lang="en-US" b="0" dirty="0">
                <a:solidFill>
                  <a:schemeClr val="dk1"/>
                </a:solidFill>
              </a:rPr>
              <a:t>classifier head.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Training Loop: Iterate over epochs with forward pass, CrossEntropyLoss computation, backpropagation, and Adam optimization.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Model Saving: Export trained model as model.pt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class label mapping as classes.json for inference deployment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Workflow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1: </a:t>
            </a:r>
            <a:r>
              <a:rPr lang="en-US" b="0" dirty="0">
                <a:solidFill>
                  <a:schemeClr val="dk1"/>
                </a:solidFill>
              </a:rPr>
              <a:t>Download </a:t>
            </a:r>
            <a:r>
              <a:rPr lang="en-US" b="0">
                <a:solidFill>
                  <a:schemeClr val="dk1"/>
                </a:solidFill>
              </a:rPr>
              <a:t>the PlantVillage </a:t>
            </a:r>
            <a:r>
              <a:rPr lang="en-US" b="0" dirty="0">
                <a:solidFill>
                  <a:schemeClr val="dk1"/>
                </a:solidFill>
              </a:rPr>
              <a:t>dataset (</a:t>
            </a:r>
            <a:r>
              <a:rPr lang="en-US" b="0">
                <a:solidFill>
                  <a:schemeClr val="dk1"/>
                </a:solidFill>
              </a:rPr>
              <a:t>54,306 images) </a:t>
            </a:r>
            <a:r>
              <a:rPr lang="en-US" b="0" dirty="0">
                <a:solidFill>
                  <a:schemeClr val="dk1"/>
                </a:solidFill>
              </a:rPr>
              <a:t>via Hugging Face</a:t>
            </a:r>
            <a:r>
              <a:rPr lang="en-US" b="0">
                <a:solidFill>
                  <a:schemeClr val="dk1"/>
                </a:solidFill>
              </a:rPr>
              <a:t> Datasets or Zenodo repository.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2: Organize images into </a:t>
            </a:r>
            <a:r>
              <a:rPr lang="en-US" b="0" dirty="0">
                <a:solidFill>
                  <a:schemeClr val="dk1"/>
                </a:solidFill>
              </a:rPr>
              <a:t>train/</a:t>
            </a:r>
            <a:r>
              <a:rPr lang="en-US" b="0">
                <a:solidFill>
                  <a:schemeClr val="dk1"/>
                </a:solidFill>
              </a:rPr>
              <a:t>validation folder structure with class-specific subdirectories.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3: Configure hyperparameters — batch size 32, learning rate with scheduler, early stopping patience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4: </a:t>
            </a:r>
            <a:r>
              <a:rPr lang="en-US" b="0" dirty="0">
                <a:solidFill>
                  <a:schemeClr val="dk1"/>
                </a:solidFill>
              </a:rPr>
              <a:t>Train </a:t>
            </a:r>
            <a:r>
              <a:rPr lang="en-US" b="0">
                <a:solidFill>
                  <a:schemeClr val="dk1"/>
                </a:solidFill>
              </a:rPr>
              <a:t>the </a:t>
            </a:r>
            <a:r>
              <a:rPr lang="en-US" b="0" dirty="0">
                <a:solidFill>
                  <a:schemeClr val="dk1"/>
                </a:solidFill>
              </a:rPr>
              <a:t>model</a:t>
            </a:r>
            <a:r>
              <a:rPr lang="en-US" b="0">
                <a:solidFill>
                  <a:schemeClr val="dk1"/>
                </a:solidFill>
              </a:rPr>
              <a:t>, monitor validation accuracy per epoch,</a:t>
            </a:r>
            <a:r>
              <a:rPr lang="en-US" b="0" dirty="0">
                <a:solidFill>
                  <a:schemeClr val="dk1"/>
                </a:solidFill>
              </a:rPr>
              <a:t> and save </a:t>
            </a:r>
            <a:r>
              <a:rPr lang="en-US" b="0">
                <a:solidFill>
                  <a:schemeClr val="dk1"/>
                </a:solidFill>
              </a:rPr>
              <a:t>the best </a:t>
            </a:r>
            <a:r>
              <a:rPr lang="en-US" b="0" dirty="0">
                <a:solidFill>
                  <a:schemeClr val="dk1"/>
                </a:solidFill>
              </a:rPr>
              <a:t>model</a:t>
            </a:r>
            <a:r>
              <a:rPr lang="en-US" b="0">
                <a:solidFill>
                  <a:schemeClr val="dk1"/>
                </a:solidFill>
              </a:rPr>
              <a:t> checkpoint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5: Launch the Streamlit</a:t>
            </a:r>
            <a:r>
              <a:rPr lang="en-US" b="0" dirty="0">
                <a:solidFill>
                  <a:schemeClr val="dk1"/>
                </a:solidFill>
              </a:rPr>
              <a:t> </a:t>
            </a:r>
            <a:r>
              <a:rPr lang="en-US" b="0">
                <a:solidFill>
                  <a:schemeClr val="dk1"/>
                </a:solidFill>
              </a:rPr>
              <a:t>web </a:t>
            </a:r>
            <a:r>
              <a:rPr lang="en-US" b="0" dirty="0">
                <a:solidFill>
                  <a:schemeClr val="dk1"/>
                </a:solidFill>
              </a:rPr>
              <a:t>app</a:t>
            </a:r>
            <a:r>
              <a:rPr lang="en-US" b="0">
                <a:solidFill>
                  <a:schemeClr val="dk1"/>
                </a:solidFill>
              </a:rPr>
              <a:t>, upload a leaf image, and receive instant disease</a:t>
            </a:r>
            <a:r>
              <a:rPr lang="en-US" b="0" dirty="0">
                <a:solidFill>
                  <a:schemeClr val="dk1"/>
                </a:solidFill>
              </a:rPr>
              <a:t> prediction</a:t>
            </a:r>
            <a:r>
              <a:rPr lang="en-US" b="0">
                <a:solidFill>
                  <a:schemeClr val="dk1"/>
                </a:solidFill>
              </a:rPr>
              <a:t> with confidence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Results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ResNet18 achieves ~92% validation accuracy; ResNet50 achieves ~96% accuracy on the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test 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Top-performing classes: Orange </a:t>
            </a:r>
            <a:r>
              <a:rPr lang="en-US" b="0" dirty="0" err="1">
                <a:solidFill>
                  <a:schemeClr val="dk1"/>
                </a:solidFill>
              </a:rPr>
              <a:t>Haunglongbing</a:t>
            </a:r>
            <a:r>
              <a:rPr lang="en-US" b="0" dirty="0">
                <a:solidFill>
                  <a:schemeClr val="dk1"/>
                </a:solidFill>
              </a:rPr>
              <a:t> (F1=0.99), Soybean Healthy (F1=0.97), Squash Powdery Mildew (F1=0.98).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Macro F1-score of ~0.90 and weighted F1-score of ~0.92 across all 38 disease categories.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Real-time inference under 200ms per image, enabling practical deployment on commodity hardware.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Confusion matrix analysis reveals strong performance on most classes with some challenges in visually similar diseases.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Challenges &amp; Solutions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 Imbalance: Fewer samples in some categories; addressed with weighted sampling.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Visual Similarity: Similar-looking diseases resolved by fine-tuning deeper layers.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Computational Constraints: Optimized batch sizes and mixed-precision training for limited GPU.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Domain Shift: Lab vs. field image gap mitigated with </a:t>
            </a:r>
            <a:r>
              <a:rPr lang="en-US" b="0" dirty="0">
                <a:solidFill>
                  <a:schemeClr val="dk1"/>
                </a:solidFill>
              </a:rPr>
              <a:t>augmentation </a:t>
            </a:r>
            <a:r>
              <a:rPr lang="en-US" b="0">
                <a:solidFill>
                  <a:schemeClr val="dk1"/>
                </a:solidFill>
              </a:rPr>
              <a:t>and </a:t>
            </a:r>
            <a:r>
              <a:rPr lang="en-US" b="0" dirty="0">
                <a:solidFill>
                  <a:schemeClr val="dk1"/>
                </a:solidFill>
              </a:rPr>
              <a:t>normalization</a:t>
            </a:r>
            <a:r>
              <a:rPr lang="en-US" b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Model Generalization: Robust performance across varied lighting and camera conditions.</a:t>
            </a:r>
            <a:endParaRPr lang="en-US"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chemeClr val="dk1"/>
                </a:solidFill>
              </a:rPr>
              <a:t>Demo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Streamlit Web Interface: Upload any crop leaf image and receive instant disease classification with confidence scores.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Supports 14 crop species including Tomato, Potato, Corn, Grape, Apple, Pepper, Strawberry, and more.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Displays top prediction with confidence percentage and disease category name for quick actionable diagnosis.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Model runs locally without internet dependency, suitable for rural areas with limited connectivity.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End-to-end pipeline: Image upload → preprocessing → model inference → disease label + confidence output.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51DB-FFC7-B0F4-9308-56385A2E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dk1"/>
                </a:solidFill>
              </a:rPr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D9577-4E3A-5F7A-1E9B-899845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65945-3D77-BCC1-F441-8BC372F1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198"/>
            <a:ext cx="9144000" cy="48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5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References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1"/>
                </a:solidFill>
              </a:rPr>
              <a:t>[1] </a:t>
            </a:r>
            <a:r>
              <a:rPr lang="en-US" b="0" dirty="0" err="1">
                <a:solidFill>
                  <a:schemeClr val="dk1"/>
                </a:solidFill>
              </a:rPr>
              <a:t>Tugrul</a:t>
            </a:r>
            <a:r>
              <a:rPr lang="en-US" b="0" dirty="0">
                <a:solidFill>
                  <a:schemeClr val="dk1"/>
                </a:solidFill>
              </a:rPr>
              <a:t>, B. et al., “Convolutional Neural Networks in Detection of Plant Leaf Diseases: A Review,” Agriculture, 2022.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1"/>
                </a:solidFill>
              </a:rPr>
              <a:t>[2] Shoaib, M. et al., “An Advanced Deep Learning Models-Based Plant Disease Detection: A Review,” Frontiers in Plant Science, 2023.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1"/>
                </a:solidFill>
              </a:rPr>
              <a:t>[3] Shafik, W. et al., “Using Transfer Learning-Based Plant Disease Classification and Detection for Sustainable Agriculture,” BMC Plant Biology, 2024.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1"/>
                </a:solidFill>
              </a:rPr>
              <a:t>[4]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Dataset — 54,306 labeled images across 14 species and 38 classes (</a:t>
            </a:r>
            <a:r>
              <a:rPr lang="en-US" b="0" dirty="0" err="1">
                <a:solidFill>
                  <a:schemeClr val="dk1"/>
                </a:solidFill>
              </a:rPr>
              <a:t>Zenodo</a:t>
            </a:r>
            <a:r>
              <a:rPr lang="en-US" b="0" dirty="0">
                <a:solidFill>
                  <a:schemeClr val="dk1"/>
                </a:solidFill>
              </a:rPr>
              <a:t> / Hugging Face).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1"/>
                </a:solidFill>
              </a:rPr>
              <a:t>[5]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Documentation — </a:t>
            </a:r>
            <a:r>
              <a:rPr lang="en-US" b="0" dirty="0" err="1">
                <a:solidFill>
                  <a:schemeClr val="dk1"/>
                </a:solidFill>
              </a:rPr>
              <a:t>torchvision.models</a:t>
            </a:r>
            <a:r>
              <a:rPr lang="en-US" b="0" dirty="0">
                <a:solidFill>
                  <a:schemeClr val="dk1"/>
                </a:solidFill>
              </a:rPr>
              <a:t> for pre-trained ResNet18 and ResNet50 </a:t>
            </a:r>
            <a:r>
              <a:rPr lang="en-US" b="0">
                <a:solidFill>
                  <a:schemeClr val="dk1"/>
                </a:solidFill>
              </a:rPr>
              <a:t>implementations.</a:t>
            </a:r>
            <a:endParaRPr lang="en-US" b="0" dirty="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1049</Words>
  <Application>Microsoft Office PowerPoint</Application>
  <PresentationFormat>On-screen Show (4:3)</PresentationFormat>
  <Paragraphs>85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Internal-1</vt:lpstr>
      <vt:lpstr>Crop Disease Prediction</vt:lpstr>
      <vt:lpstr>Problem Statement</vt:lpstr>
      <vt:lpstr>Objectives</vt:lpstr>
      <vt:lpstr>Methodology</vt:lpstr>
      <vt:lpstr>System Design</vt:lpstr>
      <vt:lpstr>Tools &amp; Technologies</vt:lpstr>
      <vt:lpstr>Implementation</vt:lpstr>
      <vt:lpstr>Workflow</vt:lpstr>
      <vt:lpstr>Results</vt:lpstr>
      <vt:lpstr>Challenges &amp; Solutions</vt:lpstr>
      <vt:lpstr>Demo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Shivayogi  V Ballolli</cp:lastModifiedBy>
  <cp:revision>14</cp:revision>
  <dcterms:created xsi:type="dcterms:W3CDTF">2013-01-27T09:14:16Z</dcterms:created>
  <dcterms:modified xsi:type="dcterms:W3CDTF">2026-05-02T04:58:56Z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